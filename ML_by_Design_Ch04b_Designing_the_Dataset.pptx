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1325880"/>
            <a:ext cx="256032" cy="2560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91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BY 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4b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Designing the Dataset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8CAE4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is a design choice — not preprocessing.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5486400"/>
            <a:ext cx="36576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669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Sam Urmian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989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50-minute introductory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Dusk on Elm Street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“more data” is the wrong answer.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502920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QUIET TRUTH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4663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labeled set was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model’s entire experience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of the world.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1371600" y="5029200"/>
            <a:ext cx="32004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“more data” the right answer, or did the labeling plan already decide what the model would never learn?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852160" y="219456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219456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423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1.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2286000"/>
            <a:ext cx="5013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Pedestrian detector validates near-perfectly.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852160" y="352044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352044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2.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675120" y="3611880"/>
            <a:ext cx="5013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First week live — misses every pedestrian at dusk near the dining hall.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52160" y="4846320"/>
            <a:ext cx="5882335" cy="11887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852160" y="4846320"/>
            <a:ext cx="54864" cy="1188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80760" y="5074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3.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675120" y="4937760"/>
            <a:ext cx="50136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Team queues thousands more frames — but only midday footage was ever labeled.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Today — six moves from raw data to a design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labeling plan is part of the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as design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running cases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07738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07738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90618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490618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Annotation protocols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90618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Guidelines + inter-annotator agreement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58277" y="219456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8277" y="219456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41157" y="237744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341157" y="306324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 noise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41157" y="352044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vs systematic mislabeling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080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 imbalance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or design choice?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07738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07738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90618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4490618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Acquire more / better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4490618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· weak · pseudo-labels · augmentation · synthetic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58277" y="4297680"/>
            <a:ext cx="3576218" cy="178308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58277" y="4297680"/>
            <a:ext cx="3576218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1157" y="44805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77B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41157" y="5166360"/>
            <a:ext cx="32104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Design Card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341157" y="56235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fields you must fill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running cases for the chapter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later concept lands on one of these.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5661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COURSE-SUPPORT ASSISTANT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Early-warning flag for students who need extra support.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383280"/>
            <a:ext cx="1097280" cy="0"/>
          </a:xfrm>
          <a:prstGeom prst="line">
            <a:avLst/>
          </a:prstGeom>
          <a:noFill/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7490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labels — instructors? advisors?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or only uncertain ones?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expert or many raters?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ROUTINE / CONCERNING / URGENT defined?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194560"/>
            <a:ext cx="5486400" cy="35661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PEDESTRIAN DETECTOR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Vision system for a low-speed campus shuttle.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583680" y="3383280"/>
            <a:ext cx="109728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3474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QUESTIONS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583680" y="374904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daylight — or also dawn / dusk / night?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weather? which camera angles?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partially occluded pedestrian present or absent?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counts as “close enough to brake”?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85216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same questions land on every later slide — what to include, how to label, what to defend.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 as a design decision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include — and how you label — shape the model as much as architecture does.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INCLUDE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all semesters — or only recent?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all weather — or sunny only?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all camera angles — or frontal only?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which subpopulations are covered?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LABEL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926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expert — or multiple raters?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majority vote — or soft labels?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hard boundaries — or continuous scores?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are edge cases adjudicated?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5532120"/>
            <a:ext cx="11277295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532120"/>
            <a:ext cx="41148" cy="9144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57784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QUESTIONS TO ASK BEFORE ANY MODEL CHOICE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does the dataset tell the model is important?  ·  What’s missing?  ·  What’s the gap between labeled data and deployment?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Order of operations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reach for augmentation first.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10317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Define what each label means and who may assign it.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11277295" cy="5943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34640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34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2834640"/>
            <a:ext cx="10317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Measure label quality and disagreement.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1127729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74720"/>
            <a:ext cx="54864" cy="5943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3474720"/>
            <a:ext cx="10317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Compare data distribution vs deployment vs policy.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4114800"/>
            <a:ext cx="11277295" cy="5943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114800"/>
            <a:ext cx="54864" cy="5943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114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—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17320" y="4114800"/>
            <a:ext cx="10317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GATE — only past here are acquisition strategies allowed.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11277295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754880"/>
            <a:ext cx="54864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75488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17320" y="4754880"/>
            <a:ext cx="10317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Pick label-acquisition strategy (active · semi · weak).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11277295" cy="59436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5394960"/>
            <a:ext cx="54864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39496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17320" y="5394960"/>
            <a:ext cx="103171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 augmentation or synthetic data — with validation.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Steps 1–3 reveal the actual problem. Skipping them invites the wrong fix at higher cost.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Annotation guidelines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labels reproducible — or you’re fitting a label-noise distribution.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GUIDELINES SPECIFY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486400" cy="685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06040"/>
            <a:ext cx="4114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to label vs skip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5486400" cy="685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83280"/>
            <a:ext cx="4114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83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33832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What each label means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5486400" cy="685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60520"/>
            <a:ext cx="4114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16052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97280" y="41605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to handle edge cases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5486400" cy="6858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937760"/>
            <a:ext cx="4114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93776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97280" y="49377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How to resolve ambiguity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0936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MESSAGE GUIDELINE  (sample)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5486400" cy="3520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788920"/>
            <a:ext cx="512064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mentions self-harm / crisis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URGENT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missed ≥ 2 deadlines  OR  engagement drop &gt; 50%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CONCERNING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late submission this week only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CONCERNING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ROUTINE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Inter-annotator agreement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disagreement is information — not noise.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Inter-annotator agreement: the degree to which independent annotators assign the same labels — measured by Cohen’s / Fleiss’s κ or Krippendorff’s α.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37560"/>
            <a:ext cx="11277295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33756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  =  ( pₒ  −  pₑ )  /  ( 1  −  pₑ )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57200" y="4800600"/>
            <a:ext cx="3576218" cy="96012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4800600"/>
            <a:ext cx="3576218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98348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 ≈ 1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34924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agreement beyond chance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07738" y="4800600"/>
            <a:ext cx="3576218" cy="9601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4800600"/>
            <a:ext cx="3576218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498348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 ≈ 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490618" y="534924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at chance level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58277" y="4800600"/>
            <a:ext cx="3576218" cy="9601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58277" y="4800600"/>
            <a:ext cx="3576218" cy="6400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41157" y="498348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7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κ &lt; 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341157" y="5349240"/>
            <a:ext cx="32104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DISAGREEMENT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Low κ signals unclear guidelines, an ambiguous task, or undertrained annotators — kappa is the diagnostic, not the fix.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Three ways to resolve disagreement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· Adjudication · Soft labels.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320040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Most-chosen label wins.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4206240"/>
            <a:ext cx="914400" cy="0"/>
          </a:xfrm>
          <a:prstGeom prst="line">
            <a:avLst/>
          </a:prstGeom>
          <a:noFill/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9768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Brittle to systematic bias; discards information.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320040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07738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82058" y="28346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 senior expert decides edge cases.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420624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2058" y="429768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ambiguity well — creates a bottleneck.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320040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58277" y="2194560"/>
            <a:ext cx="35762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32597" y="2834640"/>
            <a:ext cx="30275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Record the fraction choosing each: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[0.7 URGENT, 0.3 ROUTINE]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4206240"/>
            <a:ext cx="914400" cy="0"/>
          </a:xfrm>
          <a:prstGeom prst="line">
            <a:avLst/>
          </a:prstGeom>
          <a:noFill/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2597" y="4297680"/>
            <a:ext cx="30275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disagreement as signal — needs a probabilistic loss.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57784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Short objective guidelines → majority vote.   Long subjective guidelines → soft labels or adjudication.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Two kinds of label noise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averages out. Systematic teaches the wrong boundary.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NOISE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Each label flipped to a random WRONG class with equal probability p.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0" y="4297680"/>
            <a:ext cx="91440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434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random; cancels out in a large dataset.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NOISE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Flips have a preferred direction.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Positives → negative 10%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Negatives → positive 2%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4297680"/>
            <a:ext cx="91440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4348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annotator bias — moves the boundary the WRONG way.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5577840"/>
            <a:ext cx="41148" cy="9144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557784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Systematic mislabeling is much worse than random noise. Random averages out — systematic teaches the wrong boundary.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Noise robustness — by model family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model is immune. Choose: clean labels — or a noise-aware loss.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38912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NOISE BEHAVIOR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1C1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DECISION TREES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 small random noise reasonably.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splits insulate regions.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overfit at deep depths.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LINEAR MODELS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— each example moves the gradient.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felt globally.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NEURAL NETWORKS</a:t>
                      </a:r>
                      <a:endParaRPr lang="en-US" sz="13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 noise EARLY in training…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i="1" dirty="0">
                          <a:solidFill>
                            <a:srgbClr val="B7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…then eventually memorize noisy labels with enough capacity. Looks like overfitting.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893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Northcutt et al. found ≥ 3.3% label errors across 10 benchmark test sets — corrected labels can change which model “wins.”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 imbalance — problem or design choice?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question is what the DEPLOYMENT distribution looks like.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Class imbalance — one class appears much more frequently than another.  95-5 is heavy; 60-40 is mild.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24612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WHEN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39776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≠ deployment distribution, AND minority class matters operationally.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rich boundaries for both classes.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care about minority recall or balanced F1.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246120"/>
            <a:ext cx="5486400" cy="310896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3246120"/>
            <a:ext cx="5486400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24612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IMBALANCE WHEN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75120" y="397764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matches deployment.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costs follow prevalence.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evaluate with PR-AUC, macro-F1, balanced accuracy, or cost-sensitive utility.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Four levers — when you do need to address imbalance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trades data, fairness, or calibration.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5576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557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1.  OVERSAMPLE MINORITY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83464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or synthesize minority examples.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38328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474720"/>
            <a:ext cx="509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370332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overfitting; can fabricate edge cases.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8728" y="2194560"/>
            <a:ext cx="545576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8728" y="2194560"/>
            <a:ext cx="54557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7328" y="237744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2.  UNDERSAMPLE MAJORITY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7328" y="283464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majority-class examples.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07328" y="338328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7328" y="3474720"/>
            <a:ext cx="509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507328" y="370332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Discards info — only when majority is abundant.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251960"/>
            <a:ext cx="545576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251960"/>
            <a:ext cx="54557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443484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3.  CLASS-WEIGHTED LOSS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5800" y="489204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examples by inverse frequency.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85800" y="544068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5532120"/>
            <a:ext cx="509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5800" y="576072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Efficient; assumes you know deployment importance.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78728" y="4251960"/>
            <a:ext cx="5455768" cy="192024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78728" y="4251960"/>
            <a:ext cx="545576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07328" y="443484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4.  THRESHOLD ADJUSTMENT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507328" y="4892040"/>
            <a:ext cx="509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original distribution; shift the decision threshold.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07328" y="5440680"/>
            <a:ext cx="1097280" cy="0"/>
          </a:xfrm>
          <a:prstGeom prst="line">
            <a:avLst/>
          </a:prstGeom>
          <a:noFill/>
          <a:ln w="12700">
            <a:solidFill>
              <a:srgbClr val="E651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7328" y="5532120"/>
            <a:ext cx="5090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507328" y="5760720"/>
            <a:ext cx="509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calibrated scores AND known deployment prevalence.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598932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99-1 training is fine if deployment is 99-1 — misleading if deployed near a busy building.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More data, better labels, or better coverage?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the failure mode BEFORE you collect new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118872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11887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3172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3317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error low.  Val error high.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0" y="2331720"/>
            <a:ext cx="3504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MORE DATA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11277295" cy="118872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474720"/>
            <a:ext cx="54864" cy="11887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118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 OR  SLICE FAILURE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61188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Model systematically wrong on a subgroup.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3611880"/>
            <a:ext cx="3504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BETTER COVERAGE  (often + better labels)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11277295" cy="118872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54864" cy="11887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8920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OR SUSPECT LABELS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54880" y="48920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3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Annotator disagreement; noisy or shifted definitions.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0" y="4892040"/>
            <a:ext cx="3504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BETTER LABELS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08076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Before collecting new data, ASK what the diagnosis says.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Active learning — label the examples that teach the most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strategies — pick by what your model is most uncertain about.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231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SAMPLING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Examples whose predicted probability is closest to 0.5.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88109" y="4206240"/>
            <a:ext cx="9144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29768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and most common.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07738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07738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90618" y="24231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SAMPLING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490618" y="297180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Examples farthest (in embedding) from already-labeled set.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638648" y="4206240"/>
            <a:ext cx="9144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90618" y="429768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Counters duplicate labeling.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8277" y="2194560"/>
            <a:ext cx="3576218" cy="274320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8277" y="2194560"/>
            <a:ext cx="3576218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41157" y="2423160"/>
            <a:ext cx="32104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MODEL CHANGE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41157" y="2971800"/>
            <a:ext cx="32104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Examples whose label would shift parameters most.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489186" y="4206240"/>
            <a:ext cx="91440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41157" y="4297680"/>
            <a:ext cx="32104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but computationally expensive.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212080"/>
            <a:ext cx="11277295" cy="128016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5212080"/>
            <a:ext cx="41148" cy="12801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25780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PAYS OFF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85800" y="5577840"/>
            <a:ext cx="11048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Labeling is genuinely expensive  ·  large unlabeled pool exists  ·  model uncertainty is well-calibrated  ·  you can iterate batch → retrain → reselect.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seed + 100 uncertainty-selected labels  &gt;  200 random labels — at the same expert budget.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Semi-supervised — self-training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Pseudo-labels from the model itself.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2670048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6060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Train on the labeled seed.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5486400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236976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1729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Predict on the unlabeled pool.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39896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3803904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7398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Keep predictions above a confidence threshold.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306824"/>
            <a:ext cx="5486400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370832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70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43068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Add them as pseudo-labels.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4873752"/>
            <a:ext cx="5486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" y="4937760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43000" y="4873752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Retrain.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5440680"/>
            <a:ext cx="5486400" cy="502920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5504688"/>
            <a:ext cx="384048" cy="384048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143000" y="5440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Repeat until no new confident predictions — or performance stalls.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309360" y="2194560"/>
            <a:ext cx="5486400" cy="41148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09360" y="2194560"/>
            <a:ext cx="41148" cy="41148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286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BIAS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537960" y="269748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If the seed model mislabels formal-but-urgent messages as ROUTINE, self-training will CONFIDENTLY reinforce the error.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537960" y="4160520"/>
            <a:ext cx="1097280" cy="0"/>
          </a:xfrm>
          <a:prstGeom prst="line">
            <a:avLst/>
          </a:prstGeom>
          <a:noFill/>
          <a:ln w="12700">
            <a:solidFill>
              <a:srgbClr val="B71C1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37960" y="4251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457200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Spot-check pseudo-labels every round.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held-out gold validation set.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model from scratch periodically.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Weak supervision — labeling functions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silver labels from rules — combined with a label model.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41148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11048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Labeling function — a rule or heuristic that assigns a label on observable patterns; may ABSTAIN on most examples.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246120"/>
            <a:ext cx="550148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8328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lf_keyword_urgent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721608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/ emergency / suicide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1C1C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URGENT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33008" y="3246120"/>
            <a:ext cx="550148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5888" y="338328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lf_late_submissions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15888" y="3721608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late this week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15888" y="402336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CONCERNING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550148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457200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lf_engagement_drop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910328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logins down &gt; 50%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521208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5100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CONCERNING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33008" y="4434840"/>
            <a:ext cx="5501488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5888" y="457200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CA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lf_routine_length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15888" y="4910328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 words + “?”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15888" y="5212080"/>
            <a:ext cx="513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→  ROUTINE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E8F5E9"/>
          </a:solidFill>
          <a:ln w="12700">
            <a:solidFill>
              <a:srgbClr val="E8F5E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669280"/>
            <a:ext cx="41148" cy="7772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5687568"/>
            <a:ext cx="11048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 ·  SILVER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" y="5961888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Gold labels — expert, expensive.  Silver labels — heuristic, cheap, noisy.  Train on silver, EVALUATE on gold.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Augmentation — every transform is a CLAIM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label-preserving claim. Get the claim wrong and you inject noise faster than signal.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3576218" cy="2377440"/>
          </a:xfrm>
          <a:prstGeom prst="rect">
            <a:avLst/>
          </a:prstGeom>
          <a:solidFill>
            <a:srgbClr val="E8F0F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0275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paraphrase, back-translation, token replacement, cutoff / mixup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07738" y="2194560"/>
            <a:ext cx="3576218" cy="237744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07738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82058" y="2926080"/>
            <a:ext cx="30275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rotation / crop / flip, brightness, contrast, noise, geometric transforms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58277" y="2194560"/>
            <a:ext cx="3576218" cy="2377440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58277" y="2194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432597" y="2926080"/>
            <a:ext cx="302757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SMOTE, noise injection, value permutation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846320"/>
            <a:ext cx="11277295" cy="164592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846320"/>
            <a:ext cx="41148" cy="1645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89204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AUGMENTED EXAMPLES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" y="5212080"/>
            <a:ext cx="110486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Paraphrasing preserves urgency in a student message.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Cutoff that drops the word “suicide” does NOT.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Removing “not” flips sentiment entirely.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Synthetic data — promise &amp; pitfalls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validate against REAL held-out data.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00" cy="3108960"/>
          </a:xfrm>
          <a:prstGeom prst="rect">
            <a:avLst/>
          </a:prstGeom>
          <a:solidFill>
            <a:srgbClr val="E8F5E9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WHEN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926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events (accidents, breaches, fraud) are hard to collect.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constraints rule out raw data.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is far cheaper than collection.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controlled edge-case testing.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09360" y="2194560"/>
            <a:ext cx="5486400" cy="3108960"/>
          </a:xfrm>
          <a:prstGeom prst="rect">
            <a:avLst/>
          </a:prstGeom>
          <a:solidFill>
            <a:srgbClr val="FFEBEE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219456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MISLEADS WHEN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2926080"/>
            <a:ext cx="4754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distribution mismatch (CARLA → real cameras).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collapse — GAN only produces frontal poses.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confidence — good on synthetic test, bad on real.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noise model ≠ real noise.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577840"/>
            <a:ext cx="11277295" cy="914400"/>
          </a:xfrm>
          <a:prstGeom prst="rect">
            <a:avLst/>
          </a:prstGeom>
          <a:solidFill>
            <a:srgbClr val="E8F0FE"/>
          </a:solidFill>
          <a:ln w="12700">
            <a:solidFill>
              <a:srgbClr val="E8F0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5577840"/>
            <a:ext cx="41148" cy="9144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5623560"/>
            <a:ext cx="11048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5943600"/>
            <a:ext cx="11048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Always hold out a REAL-data test set. Report real and synthetic performance separately.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Chapter artifact — the Data Design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fields you must fill. Each is a forcing function.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94560"/>
          <a:ext cx="11277295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7406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must be documented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Data source &amp; collection method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came from; how it was gathered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Data extent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Counts, splits, dates, subgroups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Labeling protocol &amp; annotators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labels and how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Annotator agreement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κ or α + concrete examples of disagreement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Known gaps &amp; limitations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Slices missing, conditions absent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Class distribution &amp; imbalance strategy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Prevalence + which lever (if any)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Label-acquisition strategy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/ silver / pseudo mix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Augmentation &amp; synthetic claims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Invariances asserted + how validated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77B6"/>
                          </a:solidFill>
                          <a:latin typeface="Palatino" pitchFamily="34" charset="0"/>
                          <a:ea typeface="Palatino" pitchFamily="34" charset="-122"/>
                          <a:cs typeface="Palatino" pitchFamily="34" charset="-120"/>
                        </a:rPr>
                        <a:t>Governance &amp; escalation</a:t>
                      </a:r>
                      <a:endParaRPr lang="en-US" sz="1200" dirty="0">
                        <a:latin typeface="Palatino" charset="0"/>
                        <a:ea typeface="Palatino" charset="0"/>
                        <a:cs typeface="Palatino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Consent · access · human review · no-automation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Not just documentation — a forcing function. If you can’t fill a field, that’s where to investigate next.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4B  ·  DESIGNING THE 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180015" y="3200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2D5986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ML by Design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11277295" cy="0"/>
          </a:xfrm>
          <a:prstGeom prst="line">
            <a:avLst/>
          </a:prstGeom>
          <a:noFill/>
          <a:ln w="9525">
            <a:solidFill>
              <a:srgbClr val="CBD5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686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Filled example — student early-warning card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real entry looks like.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9456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9456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194560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12 480 messages · 840 students · 4 semesters · splits 7 480 / 2 500 / 2 500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11277295" cy="713232"/>
          </a:xfrm>
          <a:prstGeom prst="rect">
            <a:avLst/>
          </a:prstGeom>
          <a:solidFill>
            <a:srgbClr val="E8F4FD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97180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7180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108960" y="2971800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Fleiss κ = 0.72  ·  ROUTINE vs CONCERNING is the 14% ambiguous zone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4904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08960" y="3749040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70% ROUTINE · 22% CONCERNING · 8% URGENT  ·  class-weighted loss (URGENT × 3.0, CONCERNING × 1.5)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26280"/>
            <a:ext cx="11277295" cy="713232"/>
          </a:xfrm>
          <a:prstGeom prst="rect">
            <a:avLst/>
          </a:prstGeom>
          <a:solidFill>
            <a:srgbClr val="FFF3E0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526280"/>
            <a:ext cx="54864" cy="7132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52628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08960" y="4526280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URGENT triggers HUMAN ESCALATION  —  not automated action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11277295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303520"/>
            <a:ext cx="54864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53035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D59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GAPS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108960" y="5303520"/>
            <a:ext cx="8625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One institution · no non-native English speakers · summer absent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6080760"/>
            <a:ext cx="11277295" cy="457200"/>
          </a:xfrm>
          <a:prstGeom prst="rect">
            <a:avLst/>
          </a:prstGeom>
          <a:solidFill>
            <a:srgbClr val="FFEBEE"/>
          </a:solidFill>
          <a:ln w="12700">
            <a:solidFill>
              <a:srgbClr val="FFEB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6080760"/>
            <a:ext cx="41148" cy="45720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080760"/>
            <a:ext cx="11048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D1B2A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Governance is the field most teams skip — and the one that protects everyone if the model is wrong.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CBD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BREATH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3444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Datasets are designed objects —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alatino" pitchFamily="34" charset="0"/>
                <a:ea typeface="Palatino" pitchFamily="34" charset="-122"/>
                <a:cs typeface="Palatino" pitchFamily="34" charset="-120"/>
              </a:rPr>
              <a:t>the collection plan and labels encode claims the model inherits.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2926080"/>
            <a:ext cx="3200400" cy="0"/>
          </a:xfrm>
          <a:prstGeom prst="line">
            <a:avLst/>
          </a:prstGeom>
          <a:noFill/>
          <a:ln w="1524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35661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Inter-annotator disagreement is information — not noise.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balance is a deployment question — not a default.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labels are scarce, the acquisition strategy (gold / silver / pseudo) IS the modelling decision.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augmentation is a label-preserving claim — inspect it.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and augmented data are only as good as their real-data validation.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0" y="356616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5 — Optimization as designed process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7 — Probabilistic models as modeling judgment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9 — Evaluation evidence for deployment claims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5074920"/>
            <a:ext cx="1097280" cy="0"/>
          </a:xfrm>
          <a:prstGeom prst="line">
            <a:avLst/>
          </a:prstGeom>
          <a:noFill/>
          <a:ln w="1016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55321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 Data Design Card (all 9 fields) for a dataset in your domain — and flag every field you cannot yet fill.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Urmian · Machine Learning by Design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by Design — Chapter 4b: Designing the Dataset</dc:title>
  <dc:subject>PptxGenJS Presentation</dc:subject>
  <dc:creator>Sam Urmian</dc:creator>
  <cp:lastModifiedBy>Sam Urmian</cp:lastModifiedBy>
  <cp:revision>1</cp:revision>
  <dcterms:created xsi:type="dcterms:W3CDTF">2026-05-16T22:49:38Z</dcterms:created>
  <dcterms:modified xsi:type="dcterms:W3CDTF">2026-05-16T22:49:38Z</dcterms:modified>
</cp:coreProperties>
</file>