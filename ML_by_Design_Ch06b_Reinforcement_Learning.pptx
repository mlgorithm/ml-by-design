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" y="1325880"/>
            <a:ext cx="256032" cy="2560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6916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BY DESIGN  ·  PART III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2240280"/>
            <a:ext cx="10515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Chapter 6b</a:t>
            </a:r>
            <a:endParaRPr lang="en-US" sz="5000" dirty="0"/>
          </a:p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Reinforcement Learning</a:t>
            </a:r>
            <a:endParaRPr lang="en-US" sz="5000" dirty="0"/>
          </a:p>
        </p:txBody>
      </p:sp>
      <p:sp>
        <p:nvSpPr>
          <p:cNvPr id="6" name="Text 4"/>
          <p:cNvSpPr/>
          <p:nvPr/>
        </p:nvSpPr>
        <p:spPr>
          <a:xfrm>
            <a:off x="914400" y="45262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48CAE4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Learning to ACT — not just predict.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914400" y="5486400"/>
            <a:ext cx="3657600" cy="0"/>
          </a:xfrm>
          <a:prstGeom prst="line">
            <a:avLst/>
          </a:prstGeom>
          <a:noFill/>
          <a:ln w="1524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56692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Sam Urmian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5989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50-minute introductory lecture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6B  ·  REINFORCEMENT LEARNING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180015" y="3200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ML by Design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11277295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Dusk on Elm Street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 seconds to decide:  brake · ease off · hold?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103120"/>
            <a:ext cx="5029200" cy="39319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2402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2606040"/>
            <a:ext cx="46634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i="1" dirty="0">
                <a:solidFill>
                  <a:srgbClr val="FFFFFF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The detector said</a:t>
            </a:r>
            <a:endParaRPr lang="en-US" sz="1900" dirty="0"/>
          </a:p>
          <a:p>
            <a:pPr algn="ctr" indent="0" marL="0">
              <a:buNone/>
            </a:pPr>
            <a:r>
              <a:rPr lang="en-US" sz="1900" i="1" dirty="0">
                <a:solidFill>
                  <a:srgbClr val="FFFFFF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“pedestrian, 0.94.”</a:t>
            </a:r>
            <a:endParaRPr lang="en-US" sz="1900" dirty="0"/>
          </a:p>
          <a:p>
            <a:pPr algn="ctr" indent="0" marL="0">
              <a:buNone/>
            </a:pPr>
            <a:endParaRPr lang="en-US" sz="1900" dirty="0"/>
          </a:p>
          <a:p>
            <a:pPr algn="ctr" indent="0" marL="0">
              <a:buNone/>
            </a:pPr>
            <a:r>
              <a:rPr lang="en-US" sz="1900" i="1" dirty="0">
                <a:solidFill>
                  <a:srgbClr val="FFFFFF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It was right.</a:t>
            </a:r>
            <a:endParaRPr lang="en-US" sz="1900" dirty="0"/>
          </a:p>
          <a:p>
            <a:pPr algn="ctr" indent="0" marL="0">
              <a:buNone/>
            </a:pPr>
            <a:r>
              <a:rPr lang="en-US" sz="1900" i="1" dirty="0">
                <a:solidFill>
                  <a:srgbClr val="FFFFFF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It didn't choose anything.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1371600" y="5303520"/>
            <a:ext cx="3200400" cy="0"/>
          </a:xfrm>
          <a:prstGeom prst="line">
            <a:avLst/>
          </a:prstGeom>
          <a:noFill/>
          <a:ln w="12700">
            <a:solidFill>
              <a:srgbClr val="00B4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544068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OTHER module must choose — and live with what happens next.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852160" y="2194560"/>
            <a:ext cx="5882335" cy="3931920"/>
          </a:xfrm>
          <a:prstGeom prst="rect">
            <a:avLst/>
          </a:prstGeom>
          <a:solidFill>
            <a:srgbClr val="E8F0FE"/>
          </a:solidFill>
          <a:ln w="12700">
            <a:solidFill>
              <a:srgbClr val="E8F0F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852160" y="2194560"/>
            <a:ext cx="41148" cy="39319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80760" y="2286000"/>
            <a:ext cx="56537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 vs  DECISION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080760" y="2697480"/>
            <a:ext cx="565373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Probability  ≠  policy.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A model that predicts 0.94 doesn't commit the vehicle to anything.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The brake / ease / hold choice is what the agent learns —</a:t>
            </a:r>
            <a:endParaRPr lang="en-US" sz="1400" dirty="0"/>
          </a:p>
          <a:p>
            <a:pPr indent="0" marL="0">
              <a:buNone/>
            </a:pPr>
            <a:r>
              <a:rPr lang="en-US" sz="14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from observed CONSEQUENCES.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Urmian · Machine Learning by Design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22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6B  ·  REINFORCEMENT LEARNING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180015" y="3200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ML by Design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11277295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Two running cases for the chapter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share what pure prediction lacks.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194560"/>
            <a:ext cx="5486400" cy="3108960"/>
          </a:xfrm>
          <a:prstGeom prst="rect">
            <a:avLst/>
          </a:prstGeom>
          <a:solidFill>
            <a:srgbClr val="E8F0FE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194560"/>
            <a:ext cx="5486400" cy="5029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19456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 SHUTTLE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" y="2971800"/>
            <a:ext cx="49377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STATE:   pedestrian position + velocity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ACTION:  brake · ease · hold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REWARD:  safety  vs  comfort  vs  schedule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309360" y="2194560"/>
            <a:ext cx="5486400" cy="3108960"/>
          </a:xfrm>
          <a:prstGeom prst="rect">
            <a:avLst/>
          </a:prstGeom>
          <a:solidFill>
            <a:srgbClr val="E8F5E9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309360" y="2194560"/>
            <a:ext cx="5486400" cy="50292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09360" y="219456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COURSE-SUPPORT ASSISTANT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583680" y="2971800"/>
            <a:ext cx="49377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STATE:   student query + history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ACTION:  templated response  or  escalate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REWARD:  +1 resolved · −0.5 escalated · 0 otherwise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5577840"/>
            <a:ext cx="11277295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5577840"/>
            <a:ext cx="112772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i="1" dirty="0">
                <a:solidFill>
                  <a:srgbClr val="FFFFFF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Observe.  Act.  Wait for delayed feedback.  Improve.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Urmian · Machine Learning by Design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22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6B  ·  REINFORCEMENT LEARNING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180015" y="3200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ML by Design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11277295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Today — five moves from MDP to deployable agents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section a step in the agent's lifecycle.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194560"/>
            <a:ext cx="3576218" cy="1783080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194560"/>
            <a:ext cx="3576218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37744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77B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1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640080" y="3063240"/>
            <a:ext cx="32104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MDP &amp; loop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0080" y="3520440"/>
            <a:ext cx="32104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formal object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307738" y="2194560"/>
            <a:ext cx="3576218" cy="1783080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307738" y="2194560"/>
            <a:ext cx="3576218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490618" y="237744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77B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2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4490618" y="3063240"/>
            <a:ext cx="32104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Values &amp; Bellman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490618" y="3520440"/>
            <a:ext cx="32104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assignment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158277" y="2194560"/>
            <a:ext cx="3576218" cy="1783080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158277" y="2194560"/>
            <a:ext cx="3576218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41157" y="237744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77B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3</a:t>
            </a:r>
            <a:endParaRPr lang="en-US" sz="3200" dirty="0"/>
          </a:p>
        </p:txBody>
      </p:sp>
      <p:sp>
        <p:nvSpPr>
          <p:cNvPr id="21" name="Text 19"/>
          <p:cNvSpPr/>
          <p:nvPr/>
        </p:nvSpPr>
        <p:spPr>
          <a:xfrm>
            <a:off x="8341157" y="3063240"/>
            <a:ext cx="32104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Q-learning · REINFORCE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341157" y="3520440"/>
            <a:ext cx="32104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Value-based and policy-based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7200" y="4297680"/>
            <a:ext cx="3576218" cy="1783080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" y="4297680"/>
            <a:ext cx="3576218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448056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77B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4</a:t>
            </a:r>
            <a:endParaRPr lang="en-US" sz="3200" dirty="0"/>
          </a:p>
        </p:txBody>
      </p:sp>
      <p:sp>
        <p:nvSpPr>
          <p:cNvPr id="26" name="Text 24"/>
          <p:cNvSpPr/>
          <p:nvPr/>
        </p:nvSpPr>
        <p:spPr>
          <a:xfrm>
            <a:off x="640080" y="5166360"/>
            <a:ext cx="32104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Exploration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40080" y="5623560"/>
            <a:ext cx="32104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when it's dangerous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307738" y="4297680"/>
            <a:ext cx="3576218" cy="1783080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307738" y="4297680"/>
            <a:ext cx="3576218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490618" y="448056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77B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5</a:t>
            </a:r>
            <a:endParaRPr lang="en-US" sz="3200" dirty="0"/>
          </a:p>
        </p:txBody>
      </p:sp>
      <p:sp>
        <p:nvSpPr>
          <p:cNvPr id="31" name="Text 29"/>
          <p:cNvSpPr/>
          <p:nvPr/>
        </p:nvSpPr>
        <p:spPr>
          <a:xfrm>
            <a:off x="4490618" y="5166360"/>
            <a:ext cx="32104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Reward &amp; RLHF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4490618" y="5623560"/>
            <a:ext cx="32104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+ the chapter card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Urmian · Machine Learning by Design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22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6B  ·  REINFORCEMENT LEARNING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180015" y="3200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ML by Design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11277295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Why prediction is not enough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Acting CHANGES the data you see.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194560"/>
            <a:ext cx="5486400" cy="2560320"/>
          </a:xfrm>
          <a:prstGeom prst="rect">
            <a:avLst/>
          </a:prstGeom>
          <a:solidFill>
            <a:srgbClr val="E8F0FE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194560"/>
            <a:ext cx="5486400" cy="5029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19456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WORLD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" y="2926080"/>
            <a:ext cx="49377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Fixed dataset.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Labels given.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Passive fit.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309360" y="2194560"/>
            <a:ext cx="5486400" cy="2560320"/>
          </a:xfrm>
          <a:prstGeom prst="rect">
            <a:avLst/>
          </a:prstGeom>
          <a:solidFill>
            <a:srgbClr val="E8F5E9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309360" y="2194560"/>
            <a:ext cx="5486400" cy="50292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09360" y="219456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WORLD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583680" y="2926080"/>
            <a:ext cx="49377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Agent observes state.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Takes action.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Receives delayed / noisy / sparse feedback.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Must improve its policy.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57200" y="5029200"/>
            <a:ext cx="11277295" cy="1417320"/>
          </a:xfrm>
          <a:prstGeom prst="rect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5029200"/>
            <a:ext cx="41148" cy="141732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5074920"/>
            <a:ext cx="11048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NEW CHALLENGES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85800" y="5440680"/>
            <a:ext cx="1104869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CREDIT ASSIGNMENT  —  which action caused the eventual outcome?</a:t>
            </a: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EXPLORATION  —  how do you discover good actions you've never tried?</a:t>
            </a: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ALIGNMENT  —  is the reward actually what you wanted?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Urmian · Machine Learning by Design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22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6B  ·  REINFORCEMENT LEARNING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180015" y="3200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ML by Design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11277295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The agent–environment loop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picture · the whole chapter.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1371600" y="2743200"/>
            <a:ext cx="3840480" cy="2011680"/>
          </a:xfrm>
          <a:prstGeom prst="roundRect">
            <a:avLst>
              <a:gd name="adj" fmla="val 4545"/>
            </a:avLst>
          </a:prstGeom>
          <a:solidFill>
            <a:srgbClr val="E8F0FE"/>
          </a:solidFill>
          <a:ln w="25400">
            <a:solidFill>
              <a:srgbClr val="1565C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71600" y="283464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300" kern="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371600" y="3383280"/>
            <a:ext cx="3840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policy  π(a | s)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value estimates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949440" y="2743200"/>
            <a:ext cx="3840480" cy="2011680"/>
          </a:xfrm>
          <a:prstGeom prst="roundRect">
            <a:avLst>
              <a:gd name="adj" fmla="val 4545"/>
            </a:avLst>
          </a:prstGeom>
          <a:solidFill>
            <a:srgbClr val="E8F5E9"/>
          </a:solidFill>
          <a:ln w="25400">
            <a:solidFill>
              <a:srgbClr val="2E7D3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949440" y="283464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30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949440" y="3383280"/>
            <a:ext cx="3840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transition  P(s' | s, a)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reward  R(s, a)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257800" y="3154680"/>
            <a:ext cx="1645920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5257800" y="274320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a_t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903720" y="4389120"/>
            <a:ext cx="-1645920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5257800" y="443484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 s_{t+1}  ·  reward  r_t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5303520"/>
            <a:ext cx="11277295" cy="11430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5303520"/>
            <a:ext cx="1127729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FFFFFF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Every algorithm in this chapter is a way to update the policy from what comes back on the bottom arrow.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Urmian · Machine Learning by Design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22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6B  ·  REINFORCEMENT LEARNING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180015" y="3200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ML by Design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11277295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The MDP — formal interaction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components that pin down the agent's world.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103120"/>
            <a:ext cx="11277295" cy="14630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103120"/>
            <a:ext cx="1127729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MDP  =  ( S , A , P , R , γ )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457200" y="3749040"/>
            <a:ext cx="2109155" cy="1828800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3749040"/>
            <a:ext cx="2109155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3931920"/>
            <a:ext cx="21091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548640" y="4754880"/>
            <a:ext cx="19262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states the agent observes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9235" y="3749040"/>
            <a:ext cx="2109155" cy="1828800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9235" y="3749040"/>
            <a:ext cx="2109155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9235" y="3931920"/>
            <a:ext cx="21091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endParaRPr lang="en-US" sz="4000" dirty="0"/>
          </a:p>
        </p:txBody>
      </p:sp>
      <p:sp>
        <p:nvSpPr>
          <p:cNvPr id="17" name="Text 15"/>
          <p:cNvSpPr/>
          <p:nvPr/>
        </p:nvSpPr>
        <p:spPr>
          <a:xfrm>
            <a:off x="2840675" y="4754880"/>
            <a:ext cx="19262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 it can take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041270" y="3749040"/>
            <a:ext cx="2109155" cy="1828800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041270" y="3749040"/>
            <a:ext cx="2109155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41270" y="3931920"/>
            <a:ext cx="21091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</a:t>
            </a:r>
            <a:endParaRPr lang="en-US" sz="4000" dirty="0"/>
          </a:p>
        </p:txBody>
      </p:sp>
      <p:sp>
        <p:nvSpPr>
          <p:cNvPr id="21" name="Text 19"/>
          <p:cNvSpPr/>
          <p:nvPr/>
        </p:nvSpPr>
        <p:spPr>
          <a:xfrm>
            <a:off x="5132710" y="4754880"/>
            <a:ext cx="19262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P(s'|s,a) — transition probability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333305" y="3749040"/>
            <a:ext cx="2109155" cy="1828800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333305" y="3749040"/>
            <a:ext cx="2109155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33305" y="3931920"/>
            <a:ext cx="21091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</a:t>
            </a:r>
            <a:endParaRPr lang="en-US" sz="4000" dirty="0"/>
          </a:p>
        </p:txBody>
      </p:sp>
      <p:sp>
        <p:nvSpPr>
          <p:cNvPr id="25" name="Text 23"/>
          <p:cNvSpPr/>
          <p:nvPr/>
        </p:nvSpPr>
        <p:spPr>
          <a:xfrm>
            <a:off x="7424745" y="4754880"/>
            <a:ext cx="19262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R(s,a) — scalar reward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9625340" y="3749040"/>
            <a:ext cx="2109155" cy="1828800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625340" y="3749040"/>
            <a:ext cx="2109155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625340" y="3931920"/>
            <a:ext cx="21091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γ</a:t>
            </a:r>
            <a:endParaRPr lang="en-US" sz="4000" dirty="0"/>
          </a:p>
        </p:txBody>
      </p:sp>
      <p:sp>
        <p:nvSpPr>
          <p:cNvPr id="29" name="Text 27"/>
          <p:cNvSpPr/>
          <p:nvPr/>
        </p:nvSpPr>
        <p:spPr>
          <a:xfrm>
            <a:off x="9716780" y="4754880"/>
            <a:ext cx="19262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  ∈  [0, 1]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57200" y="576072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 π(a|s)  may be deterministic or stochastic.  An episode is  s₀ , a₀ , r₀ , s₁ , a₁ , r₁ , … , s_T.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Urmian · Machine Learning by Design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22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6B  ·  REINFORCEMENT LEARNING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180015" y="3200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ML by Design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11277295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RL vs supervised learning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differences that change everything.</a:t>
            </a:r>
            <a:endParaRPr lang="en-US" sz="15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194560"/>
          <a:ext cx="11277295" cy="914400"/>
        </p:xfrm>
        <a:graphic>
          <a:graphicData uri="http://schemas.openxmlformats.org/drawingml/2006/table">
            <a:tbl>
              <a:tblPr/>
              <a:tblGrid>
                <a:gridCol w="5638648"/>
                <a:gridCol w="5638648"/>
              </a:tblGrid>
              <a:tr h="5943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SUPERVISED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REINFORCEMENT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i="1" dirty="0">
                          <a:solidFill>
                            <a:srgbClr val="1565C0"/>
                          </a:solidFill>
                          <a:latin typeface="Palatino" pitchFamily="34" charset="0"/>
                          <a:ea typeface="Palatino" pitchFamily="34" charset="-122"/>
                          <a:cs typeface="Palatino" pitchFamily="34" charset="-120"/>
                        </a:rPr>
                        <a:t>Labels by humans / oracles</a:t>
                      </a:r>
                      <a:endParaRPr lang="en-US" sz="1300" dirty="0">
                        <a:latin typeface="Palatino" charset="0"/>
                        <a:ea typeface="Palatino" charset="0"/>
                        <a:cs typeface="Palati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i="1" dirty="0">
                          <a:solidFill>
                            <a:srgbClr val="2E7D32"/>
                          </a:solidFill>
                          <a:latin typeface="Palatino" pitchFamily="34" charset="0"/>
                          <a:ea typeface="Palatino" pitchFamily="34" charset="-122"/>
                          <a:cs typeface="Palatino" pitchFamily="34" charset="-120"/>
                        </a:rPr>
                        <a:t>Reward is environment FEEDBACK</a:t>
                      </a:r>
                      <a:endParaRPr lang="en-US" sz="1300" dirty="0">
                        <a:latin typeface="Palatino" charset="0"/>
                        <a:ea typeface="Palatino" charset="0"/>
                        <a:cs typeface="Palati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i="1" dirty="0">
                          <a:solidFill>
                            <a:srgbClr val="1565C0"/>
                          </a:solidFill>
                          <a:latin typeface="Palatino" pitchFamily="34" charset="0"/>
                          <a:ea typeface="Palatino" pitchFamily="34" charset="-122"/>
                          <a:cs typeface="Palatino" pitchFamily="34" charset="-120"/>
                        </a:rPr>
                        <a:t>Examples independent</a:t>
                      </a:r>
                      <a:endParaRPr lang="en-US" sz="1300" dirty="0">
                        <a:latin typeface="Palatino" charset="0"/>
                        <a:ea typeface="Palatino" charset="0"/>
                        <a:cs typeface="Palati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i="1" dirty="0">
                          <a:solidFill>
                            <a:srgbClr val="2E7D32"/>
                          </a:solidFill>
                          <a:latin typeface="Palatino" pitchFamily="34" charset="0"/>
                          <a:ea typeface="Palatino" pitchFamily="34" charset="-122"/>
                          <a:cs typeface="Palatino" pitchFamily="34" charset="-120"/>
                        </a:rPr>
                        <a:t>Samples sequentially CORRELATED</a:t>
                      </a:r>
                      <a:endParaRPr lang="en-US" sz="1300" dirty="0">
                        <a:latin typeface="Palatino" charset="0"/>
                        <a:ea typeface="Palatino" charset="0"/>
                        <a:cs typeface="Palati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i="1" dirty="0">
                          <a:solidFill>
                            <a:srgbClr val="1565C0"/>
                          </a:solidFill>
                          <a:latin typeface="Palatino" pitchFamily="34" charset="0"/>
                          <a:ea typeface="Palatino" pitchFamily="34" charset="-122"/>
                          <a:cs typeface="Palatino" pitchFamily="34" charset="-120"/>
                        </a:rPr>
                        <a:t>Immediate, complete feedback</a:t>
                      </a:r>
                      <a:endParaRPr lang="en-US" sz="1300" dirty="0">
                        <a:latin typeface="Palatino" charset="0"/>
                        <a:ea typeface="Palatino" charset="0"/>
                        <a:cs typeface="Palati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i="1" dirty="0">
                          <a:solidFill>
                            <a:srgbClr val="2E7D32"/>
                          </a:solidFill>
                          <a:latin typeface="Palatino" pitchFamily="34" charset="0"/>
                          <a:ea typeface="Palatino" pitchFamily="34" charset="-122"/>
                          <a:cs typeface="Palatino" pitchFamily="34" charset="-120"/>
                        </a:rPr>
                        <a:t>DELAYED, sparse feedback</a:t>
                      </a:r>
                      <a:endParaRPr lang="en-US" sz="1300" dirty="0">
                        <a:latin typeface="Palatino" charset="0"/>
                        <a:ea typeface="Palatino" charset="0"/>
                        <a:cs typeface="Palati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i="1" dirty="0">
                          <a:solidFill>
                            <a:srgbClr val="1565C0"/>
                          </a:solidFill>
                          <a:latin typeface="Palatino" pitchFamily="34" charset="0"/>
                          <a:ea typeface="Palatino" pitchFamily="34" charset="-122"/>
                          <a:cs typeface="Palatino" pitchFamily="34" charset="-120"/>
                        </a:rPr>
                        <a:t>No exploration cost</a:t>
                      </a:r>
                      <a:endParaRPr lang="en-US" sz="1300" dirty="0">
                        <a:latin typeface="Palatino" charset="0"/>
                        <a:ea typeface="Palatino" charset="0"/>
                        <a:cs typeface="Palati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i="1" dirty="0">
                          <a:solidFill>
                            <a:srgbClr val="2E7D32"/>
                          </a:solidFill>
                          <a:latin typeface="Palatino" pitchFamily="34" charset="0"/>
                          <a:ea typeface="Palatino" pitchFamily="34" charset="-122"/>
                          <a:cs typeface="Palatino" pitchFamily="34" charset="-120"/>
                        </a:rPr>
                        <a:t>Exploration can be COSTLY</a:t>
                      </a:r>
                      <a:endParaRPr lang="en-US" sz="1300" dirty="0">
                        <a:latin typeface="Palatino" charset="0"/>
                        <a:ea typeface="Palatino" charset="0"/>
                        <a:cs typeface="Palati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i="1" dirty="0">
                          <a:solidFill>
                            <a:srgbClr val="1565C0"/>
                          </a:solidFill>
                          <a:latin typeface="Palatino" pitchFamily="34" charset="0"/>
                          <a:ea typeface="Palatino" pitchFamily="34" charset="-122"/>
                          <a:cs typeface="Palatino" pitchFamily="34" charset="-120"/>
                        </a:rPr>
                        <a:t>Passive — fit a function</a:t>
                      </a:r>
                      <a:endParaRPr lang="en-US" sz="1300" dirty="0">
                        <a:latin typeface="Palatino" charset="0"/>
                        <a:ea typeface="Palatino" charset="0"/>
                        <a:cs typeface="Palati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i="1" dirty="0">
                          <a:solidFill>
                            <a:srgbClr val="2E7D32"/>
                          </a:solidFill>
                          <a:latin typeface="Palatino" pitchFamily="34" charset="0"/>
                          <a:ea typeface="Palatino" pitchFamily="34" charset="-122"/>
                          <a:cs typeface="Palatino" pitchFamily="34" charset="-120"/>
                        </a:rPr>
                        <a:t>Active — learn by INTERACTING</a:t>
                      </a:r>
                      <a:endParaRPr lang="en-US" sz="1300" dirty="0">
                        <a:latin typeface="Palatino" charset="0"/>
                        <a:ea typeface="Palatino" charset="0"/>
                        <a:cs typeface="Palati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457200" y="598932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Costly exploration, delayed reward, and non-stationary data are what make RL fundamentally HARDER.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Urmian · Machine Learning by Design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22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6B  ·  REINFORCEMENT LEARNING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180015" y="3200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ML by Design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11277295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Course-support assistant as MDP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Concrete state · action · reward.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194560"/>
            <a:ext cx="11277295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194560"/>
            <a:ext cx="54864" cy="109728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19456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743200" y="2194560"/>
            <a:ext cx="899129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encoded query ,  student profile }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57200" y="3383280"/>
            <a:ext cx="11277295" cy="1097280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3383280"/>
            <a:ext cx="54864" cy="109728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338328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743200" y="3383280"/>
            <a:ext cx="899129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discrete templated responses  { r1, r2, … }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57200" y="4572000"/>
            <a:ext cx="11277295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4572000"/>
            <a:ext cx="54864" cy="109728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457200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2743200" y="4572000"/>
            <a:ext cx="899129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R(s, a)  =  +1 resolved  ·  −0.5 escalated  ·  0 otherwise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57200" y="5715000"/>
            <a:ext cx="11277295" cy="731520"/>
          </a:xfrm>
          <a:prstGeom prst="rect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5715000"/>
            <a:ext cx="41148" cy="73152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5800" y="5715000"/>
            <a:ext cx="110486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Transition is stochastic and PARTIALLY OBSERVED. Reward arrives hours — or days — later.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Urmian · Machine Learning by Design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22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6B  ·  REINFORCEMENT LEARNING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180015" y="3200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ML by Design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11277295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Value functions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good is a STATE?  How good is an ACTION?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194560"/>
            <a:ext cx="5486400" cy="3291840"/>
          </a:xfrm>
          <a:prstGeom prst="rect">
            <a:avLst/>
          </a:prstGeom>
          <a:solidFill>
            <a:srgbClr val="E8F0FE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194560"/>
            <a:ext cx="5486400" cy="5029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19456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 (state value)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2926080"/>
            <a:ext cx="5120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65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V^π(s)  =  E_π [ Σ γᵗ r_t  |  s₀ = s ]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743200" y="4389120"/>
            <a:ext cx="914400" cy="0"/>
          </a:xfrm>
          <a:prstGeom prst="line">
            <a:avLst/>
          </a:prstGeom>
          <a:noFill/>
          <a:ln w="12700">
            <a:solidFill>
              <a:srgbClr val="1565C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4526280"/>
            <a:ext cx="4937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1F2933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How good it is to BE in s — under policy π.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309360" y="2194560"/>
            <a:ext cx="5486400" cy="3291840"/>
          </a:xfrm>
          <a:prstGeom prst="rect">
            <a:avLst/>
          </a:prstGeom>
          <a:solidFill>
            <a:srgbClr val="E8F5E9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309360" y="2194560"/>
            <a:ext cx="5486400" cy="50292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09360" y="219456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 (action value)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92240" y="2926080"/>
            <a:ext cx="5120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7D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Q^π(s, a)  =  E_π [ r₀ + Σ_{t≥1} γᵗ r_t  |  s₀=s, a₀=a ]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595360" y="4389120"/>
            <a:ext cx="914400" cy="0"/>
          </a:xfrm>
          <a:prstGeom prst="line">
            <a:avLst/>
          </a:prstGeom>
          <a:noFill/>
          <a:ln w="12700">
            <a:solidFill>
              <a:srgbClr val="2E7D3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83680" y="4526280"/>
            <a:ext cx="4937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1F2933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How good it is to TAKE a from s — then follow π.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57200" y="56692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An action's value depends on the TOTAL FUTURE REWARD it enables — not just immediate reward.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Urmian · Machine Learning by Design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22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6B  ·  REINFORCEMENT LEARNING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180015" y="3200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ML by Design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11277295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The Bellman equation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of NOW  =  reward  +  discounted value of NEXT.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103120"/>
            <a:ext cx="11277295" cy="1828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194560"/>
            <a:ext cx="112772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V^π(s)  =  Σ_a π(a|s)  Σ_{s',r} P(s', r | s, a)  [ r  +  γ V^π(s') ]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3017520"/>
            <a:ext cx="112772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Q^π(s, a)  =  Σ_{s',r} P(s', r | s, a)  [ r  +  γ Σ_{a'} π(a'|s') Q^π(s', a') ]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57200" y="4160520"/>
            <a:ext cx="11277295" cy="2286000"/>
          </a:xfrm>
          <a:prstGeom prst="rect">
            <a:avLst/>
          </a:prstGeom>
          <a:solidFill>
            <a:srgbClr val="E8F0FE"/>
          </a:solidFill>
          <a:ln w="12700">
            <a:solidFill>
              <a:srgbClr val="E8F0F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4160520"/>
            <a:ext cx="41148" cy="22860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4206240"/>
            <a:ext cx="11048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LESSON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85800" y="4572000"/>
            <a:ext cx="1104869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Do not evaluate an action in ISOLATION.</a:t>
            </a:r>
            <a:endParaRPr lang="en-US" sz="1800" dirty="0"/>
          </a:p>
          <a:p>
            <a:pPr indent="0" marL="0">
              <a:buNone/>
            </a:pPr>
            <a:r>
              <a:rPr lang="en-US" sz="1800" b="1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Look ahead — account for the states it leads to.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85800" y="5577840"/>
            <a:ext cx="110486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recursive structure underlies every value-based RL algorithm.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Urmian · Machine Learning by Design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22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6B  ·  REINFORCEMENT LEARNING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180015" y="3200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ML by Design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11277295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TD learning — propagate credit backward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step at a time.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103120"/>
            <a:ext cx="11277295" cy="15544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103120"/>
            <a:ext cx="1127729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δ_t  =  r_t  +  γ V(s_{t+1})  −  V(s_t)             ΔV(s_t)  ∝  δ_t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57200" y="3840480"/>
            <a:ext cx="11277295" cy="1828800"/>
          </a:xfrm>
          <a:prstGeom prst="rect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3840480"/>
            <a:ext cx="41148" cy="182880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3886200"/>
            <a:ext cx="11048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— SHUTTLE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85800" y="4251960"/>
            <a:ext cx="11048695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State:  (d = 50 m, v = 10 m/s)     V(50, 10) = 95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After 1 s, before braking:  (d = 40 m, v = 10)     V(40, 10) = 90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δ  =  1  +  0.99 · 90  −  95  =  −4.9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594360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Negative δ means the outcome was WORSE than expected — agent lowers the value of “keep going.”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Urmian · Machine Learning by Design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6B  ·  REINFORCEMENT LEARNING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180015" y="3200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ML by Design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11277295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Q-learning — off-policy value learning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the GREEDY policy while you EXPLORE.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194560"/>
            <a:ext cx="3576218" cy="2286000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062429" y="1920240"/>
            <a:ext cx="365760" cy="365760"/>
          </a:xfrm>
          <a:prstGeom prst="ellipse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62429" y="19202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2423160"/>
            <a:ext cx="35762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94360" y="2971800"/>
            <a:ext cx="330189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Take action a (possibly exploring). Observe r and s'.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307738" y="2194560"/>
            <a:ext cx="3576218" cy="2286000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912968" y="1920240"/>
            <a:ext cx="365760" cy="365760"/>
          </a:xfrm>
          <a:prstGeom prst="ellipse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12968" y="19202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307738" y="2423160"/>
            <a:ext cx="35762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444898" y="2971800"/>
            <a:ext cx="330189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  =  r  +  γ · max_{a'}  Q̂(s', a')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158277" y="2194560"/>
            <a:ext cx="3576218" cy="2286000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763506" y="1920240"/>
            <a:ext cx="365760" cy="365760"/>
          </a:xfrm>
          <a:prstGeom prst="ellipse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763506" y="19202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158277" y="2423160"/>
            <a:ext cx="35762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295437" y="2971800"/>
            <a:ext cx="330189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Q̂(s, a)  ←  Q̂(s, a)  +  α · ( y  −  Q̂(s, a) )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7200" y="4754880"/>
            <a:ext cx="11277295" cy="1691640"/>
          </a:xfrm>
          <a:prstGeom prst="rect">
            <a:avLst/>
          </a:prstGeom>
          <a:solidFill>
            <a:srgbClr val="E8F0FE"/>
          </a:solidFill>
          <a:ln w="12700">
            <a:solidFill>
              <a:srgbClr val="E8F0F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" y="4754880"/>
            <a:ext cx="41148" cy="16916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5800" y="4800600"/>
            <a:ext cx="11048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UPDATE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85800" y="5120640"/>
            <a:ext cx="11048695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 = 0.20    r = 1    γ = 0.9    max Q(s', ·) = 0.50    α = 0.1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  =  1  +  0.9 · 0.50  =  1.45        Q  ←  0.20  +  0.1 · (1.45 − 0.20)  =  0.325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Urmian · Machine Learning by Design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22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6B  ·  REINFORCEMENT LEARNING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180015" y="3200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ML by Design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11277295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Policy gradient — REINFORCE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the policy DIRECTLY.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103120"/>
            <a:ext cx="11277295" cy="16459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103120"/>
            <a:ext cx="11277295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∇_θ J(θ)  ∝  E  [ ∇_θ log π_θ(a | s)  ·  Q^{π_θ}(s, a) ]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57200" y="3931920"/>
            <a:ext cx="5486400" cy="2286000"/>
          </a:xfrm>
          <a:prstGeom prst="rect">
            <a:avLst/>
          </a:prstGeom>
          <a:solidFill>
            <a:srgbClr val="E8F0FE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3931920"/>
            <a:ext cx="5486400" cy="4572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39319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REINFORCE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31520" y="4526280"/>
            <a:ext cx="4937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Substitute empirical return  G_t  =  Σ_{k≥t} γ^{k−t} r_k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309360" y="3931920"/>
            <a:ext cx="5486400" cy="2286000"/>
          </a:xfrm>
          <a:prstGeom prst="rect">
            <a:avLst/>
          </a:prstGeom>
          <a:solidFill>
            <a:srgbClr val="E8F5E9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309360" y="3931920"/>
            <a:ext cx="5486400" cy="4572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09360" y="39319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INTUITION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583680" y="4526280"/>
            <a:ext cx="4937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INCREASE log-prob of actions that led to HIGH return.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DECREASE log-prob of actions that led to LOW return.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57200" y="6217920"/>
            <a:ext cx="1127729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gradient does NOT inherently encourage exploration — add entropy regularization or keep π stochastic.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Urmian · Machine Learning by Design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22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6B  ·  REINFORCEMENT LEARNING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180015" y="3200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ML by Design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11277295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Actor–critic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Actor decides.  Critic judges.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194560"/>
            <a:ext cx="5486400" cy="2743200"/>
          </a:xfrm>
          <a:prstGeom prst="rect">
            <a:avLst/>
          </a:prstGeom>
          <a:solidFill>
            <a:srgbClr val="E8F0FE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194560"/>
            <a:ext cx="5486400" cy="5029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19456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ACTOR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" y="292608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Policy  π_θ  chooses actions.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743200" y="3749040"/>
            <a:ext cx="914400" cy="0"/>
          </a:xfrm>
          <a:prstGeom prst="line">
            <a:avLst/>
          </a:prstGeom>
          <a:noFill/>
          <a:ln w="12700">
            <a:solidFill>
              <a:srgbClr val="1565C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3886200"/>
            <a:ext cx="4937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Avoids the max-operator overestimation of Q-learning.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309360" y="2194560"/>
            <a:ext cx="5486400" cy="2743200"/>
          </a:xfrm>
          <a:prstGeom prst="rect">
            <a:avLst/>
          </a:prstGeom>
          <a:solidFill>
            <a:srgbClr val="E8F5E9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309360" y="2194560"/>
            <a:ext cx="5486400" cy="50292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09360" y="219456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583680" y="292608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Value  V_φ  evaluates how good states are (TD error).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595360" y="3749040"/>
            <a:ext cx="914400" cy="0"/>
          </a:xfrm>
          <a:prstGeom prst="line">
            <a:avLst/>
          </a:prstGeom>
          <a:noFill/>
          <a:ln w="12700">
            <a:solidFill>
              <a:srgbClr val="2E7D3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83680" y="3886200"/>
            <a:ext cx="4937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the high variance of single-episode policy gradients.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5166360"/>
            <a:ext cx="11277295" cy="1280160"/>
          </a:xfrm>
          <a:prstGeom prst="rect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5166360"/>
            <a:ext cx="41148" cy="128016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5800" y="5212080"/>
            <a:ext cx="11048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TO USE WHAT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85800" y="5577840"/>
            <a:ext cx="110486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Value-based  →  small discrete A.    Policy-based  →  continuous / large A.    Actor–critic  →  sensible default.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Urmian · Machine Learning by Design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22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6B  ·  REINFORCEMENT LEARNING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180015" y="3200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ML by Design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11277295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Exploration vs exploitation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strategies · one shared principle.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194560"/>
            <a:ext cx="3576218" cy="2743200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194560"/>
            <a:ext cx="3576218" cy="45720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194560"/>
            <a:ext cx="35762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ε-GREEDY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2834640"/>
            <a:ext cx="321045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Random action w.p. ε  ·  greedy otherwise.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4114800"/>
            <a:ext cx="32104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Decay ε over time.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307738" y="2194560"/>
            <a:ext cx="3576218" cy="2743200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307738" y="2194560"/>
            <a:ext cx="3576218" cy="45720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07738" y="2194560"/>
            <a:ext cx="35762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UCB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490618" y="2834640"/>
            <a:ext cx="321045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arg max_a [ Q̂(s,a)  +  c · √(log N / count(s,a)) ]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490618" y="4114800"/>
            <a:ext cx="32104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Optimism in the face of uncertainty.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158277" y="2194560"/>
            <a:ext cx="3576218" cy="2743200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158277" y="2194560"/>
            <a:ext cx="3576218" cy="45720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58277" y="2194560"/>
            <a:ext cx="35762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THOMPSON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341157" y="2834640"/>
            <a:ext cx="321045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Sample Q from posterior  ·  act greedy on the sample.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341157" y="4114800"/>
            <a:ext cx="32104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Bayesian exploration; matches uncertainty.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7200" y="5120640"/>
            <a:ext cx="11277295" cy="1325880"/>
          </a:xfrm>
          <a:prstGeom prst="rect">
            <a:avLst/>
          </a:prstGeom>
          <a:solidFill>
            <a:srgbClr val="E8F0FE"/>
          </a:solidFill>
          <a:ln w="12700">
            <a:solidFill>
              <a:srgbClr val="E8F0F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" y="5120640"/>
            <a:ext cx="41148" cy="132588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5800" y="5166360"/>
            <a:ext cx="11048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PRINCIPLE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85800" y="5532120"/>
            <a:ext cx="110486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OPTIMISM in the face of UNCERTAINTY. UCB has provably sublinear regret O(√(NK log N)); ε-greedy is linear in the limit.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Urmian · Machine Learning by Design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22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6B  ·  REINFORCEMENT LEARNING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180015" y="3200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ML by Design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11277295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When exploration is DANGEROUS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· dangerous · mixed.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194560"/>
            <a:ext cx="3576218" cy="3657600"/>
          </a:xfrm>
          <a:prstGeom prst="rect">
            <a:avLst/>
          </a:prstGeom>
          <a:solidFill>
            <a:srgbClr val="E8F5E9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194560"/>
            <a:ext cx="3576218" cy="50292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194560"/>
            <a:ext cx="35762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2880360"/>
            <a:ext cx="32104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simulation · offline RL · low-stakes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788109" y="3611880"/>
            <a:ext cx="914400" cy="0"/>
          </a:xfrm>
          <a:prstGeom prst="line">
            <a:avLst/>
          </a:prstGeom>
          <a:noFill/>
          <a:ln w="12700">
            <a:solidFill>
              <a:srgbClr val="2E7D3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3749040"/>
            <a:ext cx="311901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larger ε. Explore freely.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307738" y="2194560"/>
            <a:ext cx="3576218" cy="3657600"/>
          </a:xfrm>
          <a:prstGeom prst="rect">
            <a:avLst/>
          </a:prstGeom>
          <a:solidFill>
            <a:srgbClr val="FFEBEE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307738" y="2194560"/>
            <a:ext cx="3576218" cy="502920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07738" y="2194560"/>
            <a:ext cx="35762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DANGEROUS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490618" y="2880360"/>
            <a:ext cx="32104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real-time control · medical · student welfare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638648" y="3611880"/>
            <a:ext cx="914400" cy="0"/>
          </a:xfrm>
          <a:prstGeom prst="line">
            <a:avLst/>
          </a:prstGeom>
          <a:noFill/>
          <a:ln w="12700">
            <a:solidFill>
              <a:srgbClr val="B71C1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36338" y="3749040"/>
            <a:ext cx="311901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live random exploration.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Simulator + offline eval + policy constraints + human approval + fallback controller + staged deployment.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158277" y="2194560"/>
            <a:ext cx="3576218" cy="3657600"/>
          </a:xfrm>
          <a:prstGeom prst="rect">
            <a:avLst/>
          </a:prstGeom>
          <a:solidFill>
            <a:srgbClr val="FFF3E0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158277" y="2194560"/>
            <a:ext cx="3576218" cy="50292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58277" y="2194560"/>
            <a:ext cx="35762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341157" y="2880360"/>
            <a:ext cx="32104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production with measurable cost of bad exploration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9489186" y="3611880"/>
            <a:ext cx="914400" cy="0"/>
          </a:xfrm>
          <a:prstGeom prst="line">
            <a:avLst/>
          </a:prstGeom>
          <a:noFill/>
          <a:ln w="12700">
            <a:solidFill>
              <a:srgbClr val="E651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386877" y="3749040"/>
            <a:ext cx="311901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Quantify cost. Set exploration bounds.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A/B-style staged rollouts.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57200" y="598932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Shuttle case — cannot rehearse crashes. Exploration happens in simulator and shadow mode only.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Urmian · Machine Learning by Design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22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6B  ·  REINFORCEMENT LEARNING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180015" y="3200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ML by Design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11277295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Reward design — what gets rewarded gets learned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overlooked problem in RL.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194560"/>
            <a:ext cx="11277295" cy="914400"/>
          </a:xfrm>
          <a:prstGeom prst="rect">
            <a:avLst/>
          </a:prstGeom>
          <a:solidFill>
            <a:srgbClr val="FFEBEE"/>
          </a:solidFill>
          <a:ln w="12700">
            <a:solidFill>
              <a:srgbClr val="FFEBE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194560"/>
            <a:ext cx="41148" cy="914400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194560"/>
            <a:ext cx="110486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R  =  − ( time to resolution )    →    assistant fires generic “contact your instructor” before reading the query.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3337560"/>
            <a:ext cx="3576218" cy="1463040"/>
          </a:xfrm>
          <a:prstGeom prst="rect">
            <a:avLst/>
          </a:prstGeom>
          <a:solidFill>
            <a:srgbClr val="FFF3E0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3337560"/>
            <a:ext cx="3576218" cy="64008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3520440"/>
            <a:ext cx="330189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0080" y="3977640"/>
            <a:ext cx="321045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Vibrates in place to “move fast.”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307738" y="3337560"/>
            <a:ext cx="3576218" cy="1463040"/>
          </a:xfrm>
          <a:prstGeom prst="rect">
            <a:avLst/>
          </a:prstGeom>
          <a:solidFill>
            <a:srgbClr val="FFF3E0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307738" y="3337560"/>
            <a:ext cx="3576218" cy="64008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444898" y="3520440"/>
            <a:ext cx="330189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490618" y="3977640"/>
            <a:ext cx="321045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Engagement-max recommends conspiracy theories.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158277" y="3337560"/>
            <a:ext cx="3576218" cy="1463040"/>
          </a:xfrm>
          <a:prstGeom prst="rect">
            <a:avLst/>
          </a:prstGeom>
          <a:solidFill>
            <a:srgbClr val="FFF3E0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158277" y="3337560"/>
            <a:ext cx="3576218" cy="64008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95437" y="3520440"/>
            <a:ext cx="330189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341157" y="3977640"/>
            <a:ext cx="321045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Return-min recommends items customers can't easily return.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7200" y="4983480"/>
            <a:ext cx="11277295" cy="13716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507492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GOODHART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57200" y="5486400"/>
            <a:ext cx="112772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FFFFFF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“When a measure becomes a TARGET, it ceases to be a good measure.”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Urmian · Machine Learning by Design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22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6B  ·  REINFORCEMENT LEARNING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180015" y="3200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ML by Design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11277295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RLHF — learning a proxy for human preferences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steps · one KL penalty.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194560"/>
            <a:ext cx="2682164" cy="3017520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615402" y="1920240"/>
            <a:ext cx="365760" cy="365760"/>
          </a:xfrm>
          <a:prstGeom prst="ellipse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615402" y="19202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48640" y="2468880"/>
            <a:ext cx="24992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50" kern="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PRETRAINED LM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94360" y="3200400"/>
            <a:ext cx="240784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1F2933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Start with a base model.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322244" y="2194560"/>
            <a:ext cx="2682164" cy="3017520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480446" y="1920240"/>
            <a:ext cx="365760" cy="365760"/>
          </a:xfrm>
          <a:prstGeom prst="ellipse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480446" y="19202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413684" y="2468880"/>
            <a:ext cx="24992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50" kern="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PREFERENCES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459404" y="3200400"/>
            <a:ext cx="240784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1F2933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Pairwise: response A vs B.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187288" y="2194560"/>
            <a:ext cx="2682164" cy="3017520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345490" y="1920240"/>
            <a:ext cx="365760" cy="365760"/>
          </a:xfrm>
          <a:prstGeom prst="ellipse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45490" y="19202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278728" y="2468880"/>
            <a:ext cx="24992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50" kern="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 MODEL  r_θ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324448" y="3200400"/>
            <a:ext cx="240784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1F2933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Train r_θ as binary classifier on preferences.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9052331" y="2194560"/>
            <a:ext cx="2682164" cy="3017520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210533" y="1920240"/>
            <a:ext cx="365760" cy="365760"/>
          </a:xfrm>
          <a:prstGeom prst="ellipse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210533" y="19202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4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9143771" y="2468880"/>
            <a:ext cx="24992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50" kern="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PPO FINE-TUNE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9189491" y="3200400"/>
            <a:ext cx="240784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1F2933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max r_θ  −  β · KL( π_φ ‖ π_base )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57200" y="5440680"/>
            <a:ext cx="11277295" cy="1005840"/>
          </a:xfrm>
          <a:prstGeom prst="rect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57200" y="5440680"/>
            <a:ext cx="41148" cy="100584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85800" y="5486400"/>
            <a:ext cx="11048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KL ANCHOR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85800" y="5806440"/>
            <a:ext cx="110486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Without the KL term — the policy drifts arbitrarily far from the base, exploiting reward-model holes. RLHF does not optimize “human values” — it optimizes a learned PROXY.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Urmian · Machine Learning by Design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22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6B  ·  REINFORCEMENT LEARNING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180015" y="3200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ML by Design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11277295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Chapter artifact — Interaction Design Card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BEFORE you deploy.</a:t>
            </a:r>
            <a:endParaRPr lang="en-US" sz="15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194560"/>
          <a:ext cx="11277295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850392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questions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77B6"/>
                          </a:solidFill>
                          <a:latin typeface="Palatino" pitchFamily="34" charset="0"/>
                          <a:ea typeface="Palatino" pitchFamily="34" charset="-122"/>
                          <a:cs typeface="Palatino" pitchFamily="34" charset="-120"/>
                        </a:rPr>
                        <a:t>Decision context</a:t>
                      </a:r>
                      <a:endParaRPr lang="en-US" sz="1200" dirty="0">
                        <a:latin typeface="Palatino" charset="0"/>
                        <a:ea typeface="Palatino" charset="0"/>
                        <a:cs typeface="Palati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does this system DECIDE, and why must it learn from interaction?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77B6"/>
                          </a:solidFill>
                          <a:latin typeface="Palatino" pitchFamily="34" charset="0"/>
                          <a:ea typeface="Palatino" pitchFamily="34" charset="-122"/>
                          <a:cs typeface="Palatino" pitchFamily="34" charset="-120"/>
                        </a:rPr>
                        <a:t>State representation</a:t>
                      </a:r>
                      <a:endParaRPr lang="en-US" sz="1200" dirty="0">
                        <a:latin typeface="Palatino" charset="0"/>
                        <a:ea typeface="Palatino" charset="0"/>
                        <a:cs typeface="Palati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is observed? What is missing? Markovian?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77B6"/>
                          </a:solidFill>
                          <a:latin typeface="Palatino" pitchFamily="34" charset="0"/>
                          <a:ea typeface="Palatino" pitchFamily="34" charset="-122"/>
                          <a:cs typeface="Palatino" pitchFamily="34" charset="-120"/>
                        </a:rPr>
                        <a:t>Action space</a:t>
                      </a:r>
                      <a:endParaRPr lang="en-US" sz="1200" dirty="0">
                        <a:latin typeface="Palatino" charset="0"/>
                        <a:ea typeface="Palatino" charset="0"/>
                        <a:cs typeface="Palati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Discrete or continuous? Any actions the agent must never take?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77B6"/>
                          </a:solidFill>
                          <a:latin typeface="Palatino" pitchFamily="34" charset="0"/>
                          <a:ea typeface="Palatino" pitchFamily="34" charset="-122"/>
                          <a:cs typeface="Palatino" pitchFamily="34" charset="-120"/>
                        </a:rPr>
                        <a:t>Reward signal</a:t>
                      </a:r>
                      <a:endParaRPr lang="en-US" sz="1200" dirty="0">
                        <a:latin typeface="Palatino" charset="0"/>
                        <a:ea typeface="Palatino" charset="0"/>
                        <a:cs typeface="Palati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Plain-language objective · formal equation · misalignment proxies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77B6"/>
                          </a:solidFill>
                          <a:latin typeface="Palatino" pitchFamily="34" charset="0"/>
                          <a:ea typeface="Palatino" pitchFamily="34" charset="-122"/>
                          <a:cs typeface="Palatino" pitchFamily="34" charset="-120"/>
                        </a:rPr>
                        <a:t>Exploration strategy</a:t>
                      </a:r>
                      <a:endParaRPr lang="en-US" sz="1200" dirty="0">
                        <a:latin typeface="Palatino" charset="0"/>
                        <a:ea typeface="Palatino" charset="0"/>
                        <a:cs typeface="Palati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dangerous is bad exploration?  ε-greedy · UCB · Thompson · other?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77B6"/>
                          </a:solidFill>
                          <a:latin typeface="Palatino" pitchFamily="34" charset="0"/>
                          <a:ea typeface="Palatino" pitchFamily="34" charset="-122"/>
                          <a:cs typeface="Palatino" pitchFamily="34" charset="-120"/>
                        </a:rPr>
                        <a:t>Evaluation plan</a:t>
                      </a:r>
                      <a:endParaRPr lang="en-US" sz="1200" dirty="0">
                        <a:latin typeface="Palatino" charset="0"/>
                        <a:ea typeface="Palatino" charset="0"/>
                        <a:cs typeface="Palati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Pre-deployment tests · production metrics · failure detection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77B6"/>
                          </a:solidFill>
                          <a:latin typeface="Palatino" pitchFamily="34" charset="0"/>
                          <a:ea typeface="Palatino" pitchFamily="34" charset="-122"/>
                          <a:cs typeface="Palatino" pitchFamily="34" charset="-120"/>
                        </a:rPr>
                        <a:t>Guardrails &amp; monitoring</a:t>
                      </a:r>
                      <a:endParaRPr lang="en-US" sz="1200" dirty="0">
                        <a:latin typeface="Palatino" charset="0"/>
                        <a:ea typeface="Palatino" charset="0"/>
                        <a:cs typeface="Palati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Fallback policy · review cadence · kill-switch authority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77B6"/>
                          </a:solidFill>
                          <a:latin typeface="Palatino" pitchFamily="34" charset="0"/>
                          <a:ea typeface="Palatino" pitchFamily="34" charset="-122"/>
                          <a:cs typeface="Palatino" pitchFamily="34" charset="-120"/>
                        </a:rPr>
                        <a:t>Filled example</a:t>
                      </a:r>
                      <a:endParaRPr lang="en-US" sz="1200" dirty="0">
                        <a:latin typeface="Palatino" charset="0"/>
                        <a:ea typeface="Palatino" charset="0"/>
                        <a:cs typeface="Palati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CampusShuttle-Brake-Assist  v0.3  ·  no production exploration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457200" y="598932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Forces you to articulate FOUR questions:  What are we learning from interaction?  Why?  What could go wrong?  How will we know?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Urmian · Machine Learning by Design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22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6B  ·  REINFORCEMENT LEARNING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180015" y="3200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ML by Design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11277295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Five takeaways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remember tomorrow.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194560"/>
            <a:ext cx="11277295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194560"/>
            <a:ext cx="54864" cy="7772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194560"/>
            <a:ext cx="502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77B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1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1280160" y="2194560"/>
            <a:ext cx="104543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RL  =  MDP + agent–environment loop. The agent's ACTIONS change the data it sees.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3017520"/>
            <a:ext cx="11277295" cy="777240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3017520"/>
            <a:ext cx="54864" cy="7772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3017520"/>
            <a:ext cx="502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77B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2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1280160" y="3017520"/>
            <a:ext cx="104543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Bellman gives values their recursive structure. TD propagates credit backward.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3840480"/>
            <a:ext cx="11277295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3840480"/>
            <a:ext cx="54864" cy="7772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3840480"/>
            <a:ext cx="502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77B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3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1280160" y="3840480"/>
            <a:ext cx="104543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Q-learning learns values then acts greedy. Policy gradient learns the policy directly. Actor–critic combines them.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57200" y="4663440"/>
            <a:ext cx="11277295" cy="777240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4663440"/>
            <a:ext cx="54864" cy="7772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5800" y="4663440"/>
            <a:ext cx="502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77B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4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1280160" y="4663440"/>
            <a:ext cx="104543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Exploration must be DELIBERATE — and sometimes forbidden in production.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57200" y="5486400"/>
            <a:ext cx="11277295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" y="5486400"/>
            <a:ext cx="54864" cy="7772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5800" y="5486400"/>
            <a:ext cx="502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77B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5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1280160" y="5486400"/>
            <a:ext cx="104543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Reward MISSPECIFICATION is the #1 design risk. Goodhart applies. Audit your reward.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57200" y="6217920"/>
            <a:ext cx="1127729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gets rewarded gets learned. Design the reward. Document the card. Then ship.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Urmian · Machine Learning by Design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22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6400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ONE BREATH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14400" y="1234440"/>
            <a:ext cx="10515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RL is not bigger supervision —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it's learning under CONSEQUENCES.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914400" y="2926080"/>
            <a:ext cx="3200400" cy="0"/>
          </a:xfrm>
          <a:prstGeom prst="line">
            <a:avLst/>
          </a:prstGeom>
          <a:noFill/>
          <a:ln w="1524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32004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97280" y="3566160"/>
            <a:ext cx="49377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algorithm is a way to update π from what comes back on the bottom arrow.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Bellman → TD → Q-learning is one path.   Policy-gradient → actor-critic is the other.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Optimism in the face of uncertainty drives almost every exploration strategy.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constraints often FORBID live exploration.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 = the most leveraged design choice.  Audit it like a contract.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0" y="32004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0" y="3566160"/>
            <a:ext cx="49377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 7 — Vision · perception feeds action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 8 — Language &amp; RLHF as alignment design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 11 — Reliability · fallback &amp; escalation policies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0" y="5074920"/>
            <a:ext cx="1097280" cy="0"/>
          </a:xfrm>
          <a:prstGeom prst="line">
            <a:avLst/>
          </a:prstGeom>
          <a:noFill/>
          <a:ln w="10160">
            <a:solidFill>
              <a:srgbClr val="00B4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0" y="52120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0" y="5532120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Tabular Q-learning on a 4×4 gridworld. ε=0.1, α=0.1, γ=0.99, 500 episodes — drop ε to 0.01 after episode 300. Extract greedy policy and verify it reaches the goal.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1440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Urmian · Machine Learning by Design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0820095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22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ML by Design — Chapter 6b: Reinforcement Learning</dc:title>
  <dc:subject>PptxGenJS Presentation</dc:subject>
  <dc:creator>Sam Urmian</dc:creator>
  <cp:lastModifiedBy>Sam Urmian</cp:lastModifiedBy>
  <cp:revision>1</cp:revision>
  <dcterms:created xsi:type="dcterms:W3CDTF">2026-05-16T23:38:48Z</dcterms:created>
  <dcterms:modified xsi:type="dcterms:W3CDTF">2026-05-16T23:38:48Z</dcterms:modified>
</cp:coreProperties>
</file>