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1325880"/>
            <a:ext cx="256032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6916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BY DESIGN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2240280"/>
            <a:ext cx="10515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Chapter 5b</a:t>
            </a:r>
            <a:endParaRPr lang="en-US" sz="5000" dirty="0"/>
          </a:p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Probabilistic Models &amp; Latent Structure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914400" y="45262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48CAE4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When a prediction becomes a distribution.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" y="5486400"/>
            <a:ext cx="3657600" cy="0"/>
          </a:xfrm>
          <a:prstGeom prst="line">
            <a:avLst/>
          </a:prstGeom>
          <a:noFill/>
          <a:ln w="1524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56692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Sam Urmian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5989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50-minute introductory lecture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5B  ·  PROBABILISTIC MODELS &amp; LATENT STRUCTURE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Two alerts. Same queue.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0.99 and the 0.51 problem.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5029200" cy="3931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2402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QUIET FAILURE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697480"/>
            <a:ext cx="4663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The model was not wrong.</a:t>
            </a:r>
            <a:endParaRPr lang="en-US" sz="1800" dirty="0"/>
          </a:p>
          <a:p>
            <a:pPr algn="ctr" indent="0" marL="0">
              <a:buNone/>
            </a:pPr>
            <a:endParaRPr lang="en-US" sz="1800" dirty="0"/>
          </a:p>
          <a:p>
            <a:pPr algn="ctr"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The SYSTEM was —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it threw away the difference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between 0.99 and 0.51.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371600" y="5532120"/>
            <a:ext cx="3200400" cy="0"/>
          </a:xfrm>
          <a:prstGeom prst="line">
            <a:avLst/>
          </a:prstGeom>
          <a:noFill/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56692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Eleven borderline cases wasted reviewer time this week.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852160" y="2194560"/>
            <a:ext cx="5882335" cy="1874520"/>
          </a:xfrm>
          <a:prstGeom prst="rect">
            <a:avLst/>
          </a:prstGeom>
          <a:solidFill>
            <a:srgbClr val="FFEBEE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852160" y="2194560"/>
            <a:ext cx="5882335" cy="45720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52160" y="2194560"/>
            <a:ext cx="58823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  ·  p = 0.99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080760" y="2788920"/>
            <a:ext cx="56537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Mentions self-harm.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Clear, confident, deserves immediate response.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852160" y="4206240"/>
            <a:ext cx="5882335" cy="1874520"/>
          </a:xfrm>
          <a:prstGeom prst="rect">
            <a:avLst/>
          </a:prstGeom>
          <a:solidFill>
            <a:srgbClr val="FFF3E0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852160" y="4206240"/>
            <a:ext cx="5882335" cy="45720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52160" y="4206240"/>
            <a:ext cx="58823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  ·  p = 0.51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080760" y="4800600"/>
            <a:ext cx="56537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Phrase “feeling overwhelmed.”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Borderline. Should probably get a human read first.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52160" y="5989320"/>
            <a:ext cx="58823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routing  ·  same urgency  ·  different evidence.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5B  ·  PROBABILISTIC MODELS &amp; LATENT STRUCTURE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Today — five moves from point to distribution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guess to “what does the model actually know?”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3576218" cy="178308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94560"/>
            <a:ext cx="3576218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37744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77B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1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640080" y="3063240"/>
            <a:ext cx="32104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Generative vs discriminative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" y="3520440"/>
            <a:ext cx="32104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questions, two models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07738" y="2194560"/>
            <a:ext cx="3576218" cy="178308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07738" y="2194560"/>
            <a:ext cx="3576218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90618" y="237744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77B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2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4490618" y="3063240"/>
            <a:ext cx="32104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Latent variables &amp; GMMs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490618" y="3520440"/>
            <a:ext cx="32104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you must infer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158277" y="2194560"/>
            <a:ext cx="3576218" cy="178308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58277" y="2194560"/>
            <a:ext cx="3576218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41157" y="237744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77B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3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8341157" y="3063240"/>
            <a:ext cx="32104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The EM algorithm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341157" y="3520440"/>
            <a:ext cx="32104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Alternate between knowing each side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4297680"/>
            <a:ext cx="3576218" cy="178308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4297680"/>
            <a:ext cx="3576218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448056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77B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4</a:t>
            </a:r>
            <a:endParaRPr lang="en-US" sz="3200" dirty="0"/>
          </a:p>
        </p:txBody>
      </p:sp>
      <p:sp>
        <p:nvSpPr>
          <p:cNvPr id="26" name="Text 24"/>
          <p:cNvSpPr/>
          <p:nvPr/>
        </p:nvSpPr>
        <p:spPr>
          <a:xfrm>
            <a:off x="640080" y="5166360"/>
            <a:ext cx="32104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Bayesian linear regression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40080" y="5623560"/>
            <a:ext cx="32104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Posterior over weights · two kinds of uncertainty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307738" y="4297680"/>
            <a:ext cx="3576218" cy="178308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307738" y="4297680"/>
            <a:ext cx="3576218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490618" y="448056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77B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5</a:t>
            </a:r>
            <a:endParaRPr lang="en-US" sz="3200" dirty="0"/>
          </a:p>
        </p:txBody>
      </p:sp>
      <p:sp>
        <p:nvSpPr>
          <p:cNvPr id="31" name="Text 29"/>
          <p:cNvSpPr/>
          <p:nvPr/>
        </p:nvSpPr>
        <p:spPr>
          <a:xfrm>
            <a:off x="4490618" y="5166360"/>
            <a:ext cx="32104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Naive Bayes + Uncertainty Audit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490618" y="5623560"/>
            <a:ext cx="32104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chapter deliverable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5B  ·  PROBABILISTIC MODELS &amp; LATENT STRUCTURE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Three levels of output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label  →  class probability  →  full distribution.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11277295" cy="1188720"/>
          </a:xfrm>
          <a:prstGeom prst="rect">
            <a:avLst/>
          </a:prstGeom>
          <a:solidFill>
            <a:srgbClr val="ECEFF1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94560"/>
            <a:ext cx="54864" cy="1188720"/>
          </a:xfrm>
          <a:prstGeom prst="rect">
            <a:avLst/>
          </a:prstGeom>
          <a:solidFill>
            <a:srgbClr val="546E7A"/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194560"/>
            <a:ext cx="1371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46E7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LEVEL 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286000" y="233172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 label / score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286000" y="2834640"/>
            <a:ext cx="94484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1F2933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SVM hyperplane decision · raw threshold.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474720"/>
            <a:ext cx="11277295" cy="1188720"/>
          </a:xfrm>
          <a:prstGeom prst="rect">
            <a:avLst/>
          </a:prstGeom>
          <a:solidFill>
            <a:srgbClr val="FFF3E0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474720"/>
            <a:ext cx="54864" cy="118872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3474720"/>
            <a:ext cx="1371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65100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LEVEL 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286000" y="361188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PROBABILITY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286000" y="4114800"/>
            <a:ext cx="94484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1F2933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Logistic regression · softmax. A single number per class.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4754880"/>
            <a:ext cx="11277295" cy="1188720"/>
          </a:xfrm>
          <a:prstGeom prst="rect">
            <a:avLst/>
          </a:prstGeom>
          <a:solidFill>
            <a:srgbClr val="E8F5E9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4754880"/>
            <a:ext cx="54864" cy="11887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4754880"/>
            <a:ext cx="1371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LEVEL 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2286000" y="489204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DISTRIBUTION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286000" y="5394960"/>
            <a:ext cx="94484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1F2933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Today's topic — predictive or generative density.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598932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Most ML production systems live at Level 1 or 2 — and pay for it in calibration and OOD handling.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5B  ·  PROBABILISTIC MODELS &amp; LATENT STRUCTURE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Why distributions matter — three consequences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one breaks something different when probabilities are point estimates.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3576218" cy="365760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94560"/>
            <a:ext cx="3576218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423160"/>
            <a:ext cx="32104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UNDER UNCERTAINTY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" y="2971800"/>
            <a:ext cx="311901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0.51 vs 0.99 should not be routed identically.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788109" y="4297680"/>
            <a:ext cx="914400" cy="0"/>
          </a:xfrm>
          <a:prstGeom prst="line">
            <a:avLst/>
          </a:prstGeom>
          <a:noFill/>
          <a:ln w="1016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4434840"/>
            <a:ext cx="302757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Triage, escalation, abstention — all read the SCORE separately from the label.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307738" y="2194560"/>
            <a:ext cx="3576218" cy="365760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07738" y="2194560"/>
            <a:ext cx="3576218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90618" y="2423160"/>
            <a:ext cx="32104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DETECTING THE UNKNOWN (OOD)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36338" y="2971800"/>
            <a:ext cx="311901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 density model flags inputs unlike training data.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638648" y="4297680"/>
            <a:ext cx="914400" cy="0"/>
          </a:xfrm>
          <a:prstGeom prst="line">
            <a:avLst/>
          </a:prstGeom>
          <a:noFill/>
          <a:ln w="1016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82058" y="4434840"/>
            <a:ext cx="302757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— but only as well-calibrated as the density it estimates.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158277" y="2194560"/>
            <a:ext cx="3576218" cy="365760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158277" y="2194560"/>
            <a:ext cx="3576218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41157" y="2423160"/>
            <a:ext cx="32104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DATA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386877" y="2971800"/>
            <a:ext cx="311901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Marginalize over unobserved features.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9489186" y="4297680"/>
            <a:ext cx="914400" cy="0"/>
          </a:xfrm>
          <a:prstGeom prst="line">
            <a:avLst/>
          </a:prstGeom>
          <a:noFill/>
          <a:ln w="10160">
            <a:solidFill>
              <a:srgbClr val="00B4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432597" y="4434840"/>
            <a:ext cx="302757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for discriminative; natural for generative models.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7200" y="598932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If the downstream action is identical at 0.55 and 0.95 — distributions can't help. If actions differ, calibration is on the critical path.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5B  ·  PROBABILISTIC MODELS &amp; LATENT STRUCTURE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Generative vs discriminative — two questions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input — two different models of the world.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5486400" cy="3931920"/>
          </a:xfrm>
          <a:prstGeom prst="rect">
            <a:avLst/>
          </a:prstGeom>
          <a:solidFill>
            <a:srgbClr val="E8F0FE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94560"/>
            <a:ext cx="5486400" cy="50292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1945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DISCRIMINATIVE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29260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“What label is most likely?”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31520" y="361188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77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P(Y | X)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2743200" y="4526280"/>
            <a:ext cx="914400" cy="0"/>
          </a:xfrm>
          <a:prstGeom prst="line">
            <a:avLst/>
          </a:prstGeom>
          <a:noFill/>
          <a:ln w="12700">
            <a:solidFill>
              <a:srgbClr val="0077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466344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boundary. Often more accurate when accuracy is the only goal.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309360" y="2194560"/>
            <a:ext cx="5486400" cy="3931920"/>
          </a:xfrm>
          <a:prstGeom prst="rect">
            <a:avLst/>
          </a:prstGeom>
          <a:solidFill>
            <a:srgbClr val="E8F5E9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09360" y="2194560"/>
            <a:ext cx="5486400" cy="5029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9360" y="21945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583680" y="29260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“How was the data produced?”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583680" y="361188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P(X, Y)   →   P(Y | X) = P(X|Y) P(Y) / P(X)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8595360" y="4526280"/>
            <a:ext cx="914400" cy="0"/>
          </a:xfrm>
          <a:prstGeom prst="line">
            <a:avLst/>
          </a:prstGeom>
          <a:noFill/>
          <a:ln w="12700">
            <a:solidFill>
              <a:srgbClr val="2E7D3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0" y="466344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more than classification requires — but unlocks OOD, missing data, generation.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5B  ·  PROBABILISTIC MODELS &amp; LATENT STRUCTURE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Choose the right lens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tool answers a different question.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5486400" cy="3931920"/>
          </a:xfrm>
          <a:prstGeom prst="rect">
            <a:avLst/>
          </a:prstGeom>
          <a:solidFill>
            <a:srgbClr val="E8F5E9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94560"/>
            <a:ext cx="5486400" cy="5029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1945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GENERATIVE WHEN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2971800"/>
            <a:ext cx="47548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OOD detection matters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missing data to marginalize over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need to GENERATE samples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labels but abundant unlabeled data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need interpretable probability statements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309360" y="2194560"/>
            <a:ext cx="5486400" cy="3931920"/>
          </a:xfrm>
          <a:prstGeom prst="rect">
            <a:avLst/>
          </a:prstGeom>
          <a:solidFill>
            <a:srgbClr val="FFF3E0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09360" y="2194560"/>
            <a:ext cx="5486400" cy="50292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21945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DISCRIMINATIVE WHEN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675120" y="2971800"/>
            <a:ext cx="47548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on labeled targets is the only goal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 P(X) is intractable (high-res images)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need for OOD detection or generation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Computational budget is tight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5B  ·  PROBABILISTIC MODELS &amp; LATENT STRUCTURE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Latent variables — structure you must infer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of the model — but not observed in the data.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11277295" cy="914400"/>
          </a:xfrm>
          <a:prstGeom prst="rect">
            <a:avLst/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94560"/>
            <a:ext cx="41148" cy="9144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194560"/>
            <a:ext cx="11048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 latent variable is part of the model but not observed in the data.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3383280"/>
            <a:ext cx="5486400" cy="274320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3383280"/>
            <a:ext cx="5486400" cy="45720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3832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MESSAGES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31520" y="402336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77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Latent variable  z  =  theme  (academic / personal / logistical)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31520" y="4892040"/>
            <a:ext cx="4937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F2933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5 000 unlabeled messages — themes exist but are not annotated.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309360" y="3383280"/>
            <a:ext cx="5486400" cy="274320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09360" y="3383280"/>
            <a:ext cx="5486400" cy="45720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9360" y="33832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PEDESTRIAN SCENES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583680" y="402336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77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Latent variable  z  =  scene type  (busy / quiet)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583680" y="4892040"/>
            <a:ext cx="4937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F2933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Detection behavior depends on this hidden structure.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6199632"/>
            <a:ext cx="112772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The simplest latent-variable model is the GAUSSIAN MIXTURE.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5B  ·  PROBABILISTIC MODELS &amp; LATENT STRUCTURE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Gaussian Mixture Model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Gaussian components combined by mixing weights.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11277295" cy="14630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19456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DENSITY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606040"/>
            <a:ext cx="112772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p(x)  =  Σ  πₖ  N( x  |  μₖ , Σₖ )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457200" y="3840480"/>
            <a:ext cx="5486400" cy="2468880"/>
          </a:xfrm>
          <a:prstGeom prst="rect">
            <a:avLst/>
          </a:prstGeom>
          <a:solidFill>
            <a:srgbClr val="E8F0FE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3840480"/>
            <a:ext cx="5486400" cy="5029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84048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STORY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31520" y="4572000"/>
            <a:ext cx="49377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1.  Pick a component  k  ~  Categorical(π).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2.  Draw  x  ~  N(μₖ, Σₖ).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309360" y="3840480"/>
            <a:ext cx="5486400" cy="2468880"/>
          </a:xfrm>
          <a:prstGeom prst="rect">
            <a:avLst/>
          </a:prstGeom>
          <a:solidFill>
            <a:srgbClr val="E8F5E9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09360" y="3840480"/>
            <a:ext cx="5486400" cy="5029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9360" y="384048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583680" y="4572000"/>
            <a:ext cx="49377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Mixing weights  πₖ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Means  μₖ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Covariances  Σₖ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Latent variable  zᵢ  ∈  {1, …, K}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5B  ·  PROBABILISTIC MODELS &amp; LATENT STRUCTURE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Soft vs hard assignments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Bayes' theorem in disguise.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11277295" cy="12801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19456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RESPONSIBILITY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606040"/>
            <a:ext cx="112772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γᵢₖ  =  P(zᵢ = k | xᵢ)  =  πₖ · N(xᵢ | μₖ, Σₖ)  /  Σⱼ πⱼ · N(xᵢ | μⱼ, Σⱼ)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7200" y="3611880"/>
            <a:ext cx="5486400" cy="2194560"/>
          </a:xfrm>
          <a:prstGeom prst="rect">
            <a:avLst/>
          </a:prstGeom>
          <a:solidFill>
            <a:srgbClr val="FFF3E0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3611880"/>
            <a:ext cx="5486400" cy="45720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6118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 (hard)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520" y="425196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Each point belongs to ONE cluster.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31520" y="489204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 of EM on a GMM as σ → 0 (spherical).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309360" y="3611880"/>
            <a:ext cx="5486400" cy="2194560"/>
          </a:xfrm>
          <a:prstGeom prst="rect">
            <a:avLst/>
          </a:prstGeom>
          <a:solidFill>
            <a:srgbClr val="E8F5E9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09360" y="3611880"/>
            <a:ext cx="5486400" cy="4572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9360" y="36118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GMM  (soft)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583680" y="425196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Each point has a vector of responsibilities.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583680" y="489204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—  [0.40 academic,  0.35 frustration,  0.25 personal].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598932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Ambiguity is information — not noise.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5B  ·  PROBABILISTIC MODELS &amp; LATENT STRUCTURE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The EM algorithm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Alternate between knowing each side of a chicken-and-egg problem.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5486400" cy="3931920"/>
          </a:xfrm>
          <a:prstGeom prst="rect">
            <a:avLst/>
          </a:prstGeom>
          <a:solidFill>
            <a:srgbClr val="E8F0FE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94560"/>
            <a:ext cx="5486400" cy="50292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1945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E-STEP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2926080"/>
            <a:ext cx="4937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γᵢₖ  ←  P(zᵢ = k | xᵢ ; θ)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2651760" y="4892040"/>
            <a:ext cx="1097280" cy="0"/>
          </a:xfrm>
          <a:prstGeom prst="line">
            <a:avLst/>
          </a:prstGeom>
          <a:noFill/>
          <a:ln w="12700">
            <a:solidFill>
              <a:srgbClr val="0077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5029200"/>
            <a:ext cx="4937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1F2933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Compute SOFT assignments using current θ.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309360" y="2194560"/>
            <a:ext cx="5486400" cy="3931920"/>
          </a:xfrm>
          <a:prstGeom prst="rect">
            <a:avLst/>
          </a:prstGeom>
          <a:solidFill>
            <a:srgbClr val="E8F5E9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09360" y="2194560"/>
            <a:ext cx="5486400" cy="5029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21945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M-STEP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583680" y="2926080"/>
            <a:ext cx="4937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μₖ  =  Σᵢ γᵢₖ xᵢ  /  Σᵢ γᵢₖ</a:t>
            </a:r>
            <a:endParaRPr lang="en-US" sz="1500" dirty="0"/>
          </a:p>
          <a:p>
            <a:pPr algn="ctr" indent="0" marL="0">
              <a:buNone/>
            </a:pP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Σₖ  =  weighted covariance</a:t>
            </a:r>
            <a:endParaRPr lang="en-US" sz="1500" dirty="0"/>
          </a:p>
          <a:p>
            <a:pPr algn="ctr" indent="0" marL="0">
              <a:buNone/>
            </a:pP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πₖ  =  average responsibility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503920" y="4892040"/>
            <a:ext cx="1097280" cy="0"/>
          </a:xfrm>
          <a:prstGeom prst="line">
            <a:avLst/>
          </a:prstGeom>
          <a:noFill/>
          <a:ln w="12700">
            <a:solidFill>
              <a:srgbClr val="2E7D3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0" y="5029200"/>
            <a:ext cx="4937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1F2933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Re-estimate as WEIGHTED statistics.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621792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Loop the two steps until log-likelihood stops climbing.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5B  ·  PROBABILISTIC MODELS &amp; LATENT STRUCTURE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One EM pass — by hand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points · two components.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11277295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148840"/>
            <a:ext cx="11277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514600"/>
            <a:ext cx="112772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 =  { 0, 2, 8 }      μ₁ = 1, μ₂ = 7      γ·₁ = ( 0.90, 0.80, 0.05 )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457200" y="3246120"/>
            <a:ext cx="5486400" cy="2926080"/>
          </a:xfrm>
          <a:prstGeom prst="rect">
            <a:avLst/>
          </a:prstGeom>
          <a:solidFill>
            <a:srgbClr val="E8F0FE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3246120"/>
            <a:ext cx="5486400" cy="4572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2461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μ₁ NEW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520" y="3840480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( 0.9·0  +  0.8·2  +  0.05·8 )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÷  ( 0.9 + 0.8 + 0.05 )</a:t>
            </a:r>
            <a:endParaRPr lang="en-US" sz="1300" dirty="0"/>
          </a:p>
          <a:p>
            <a:pPr algn="ctr" indent="0" marL="0">
              <a:buNone/>
            </a:pP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2.0 / 1.75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31520" y="544068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≈  1.14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6309360" y="3246120"/>
            <a:ext cx="5486400" cy="2926080"/>
          </a:xfrm>
          <a:prstGeom prst="rect">
            <a:avLst/>
          </a:prstGeom>
          <a:solidFill>
            <a:srgbClr val="E8F5E9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09360" y="3246120"/>
            <a:ext cx="5486400" cy="4572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9360" y="32461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μ₂ NEW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583680" y="3840480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( 0.1·0  +  0.2·2  +  0.95·8 )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÷  ( 0.1 + 0.2 + 0.95 )</a:t>
            </a:r>
            <a:endParaRPr lang="en-US" sz="1300" dirty="0"/>
          </a:p>
          <a:p>
            <a:pPr algn="ctr" indent="0" marL="0">
              <a:buNone/>
            </a:pP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8.0 / 1.25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583680" y="544068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 6.40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57200" y="6199632"/>
            <a:ext cx="112772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That's the EM rhythm — infer soft membership, then recompute parameters as weighted statistics.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5B  ·  PROBABILISTIC MODELS &amp; LATENT STRUCTURE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EM — guarantees &amp; pitfalls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Monotone but local · identifiable only up to relabeling.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3576218" cy="3108960"/>
          </a:xfrm>
          <a:prstGeom prst="rect">
            <a:avLst/>
          </a:prstGeom>
          <a:solidFill>
            <a:srgbClr val="E8F5E9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94560"/>
            <a:ext cx="3576218" cy="4572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194560"/>
            <a:ext cx="35762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MONOTONE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2834640"/>
            <a:ext cx="32104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 p(x | θ⁽ᵗ⁺¹⁾)  ≥  log p(x | θ⁽ᵗ⁾)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788109" y="3886200"/>
            <a:ext cx="914400" cy="0"/>
          </a:xfrm>
          <a:prstGeom prst="line">
            <a:avLst/>
          </a:prstGeom>
          <a:noFill/>
          <a:ln w="12700">
            <a:solidFill>
              <a:srgbClr val="2E7D3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977640"/>
            <a:ext cx="311901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Likelihood never decreases — convergence to a local max.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307738" y="2194560"/>
            <a:ext cx="3576218" cy="3108960"/>
          </a:xfrm>
          <a:prstGeom prst="rect">
            <a:avLst/>
          </a:prstGeom>
          <a:solidFill>
            <a:srgbClr val="FFF3E0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07738" y="2194560"/>
            <a:ext cx="3576218" cy="45720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07738" y="2194560"/>
            <a:ext cx="35762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OPTIMA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490618" y="2834640"/>
            <a:ext cx="32104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51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Multiple restarts.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E651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Initialize with k-means.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638648" y="3886200"/>
            <a:ext cx="914400" cy="0"/>
          </a:xfrm>
          <a:prstGeom prst="line">
            <a:avLst/>
          </a:prstGeom>
          <a:noFill/>
          <a:ln w="12700">
            <a:solidFill>
              <a:srgbClr val="E651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36338" y="3977640"/>
            <a:ext cx="311901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starts → different log-likelihoods.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158277" y="2194560"/>
            <a:ext cx="3576218" cy="3108960"/>
          </a:xfrm>
          <a:prstGeom prst="rect">
            <a:avLst/>
          </a:prstGeom>
          <a:solidFill>
            <a:srgbClr val="FFEBEE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158277" y="2194560"/>
            <a:ext cx="3576218" cy="45720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58277" y="2194560"/>
            <a:ext cx="35762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LABEL-SWAP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341157" y="2834640"/>
            <a:ext cx="32104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7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Component indices are not identifiable.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9489186" y="3886200"/>
            <a:ext cx="914400" cy="0"/>
          </a:xfrm>
          <a:prstGeom prst="line">
            <a:avLst/>
          </a:prstGeom>
          <a:noFill/>
          <a:ln w="12700">
            <a:solidFill>
              <a:srgbClr val="B71C1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86877" y="3977640"/>
            <a:ext cx="311901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report by raw component index — match means with the Hungarian algorithm.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57200" y="5577840"/>
            <a:ext cx="11277295" cy="868680"/>
          </a:xfrm>
          <a:prstGeom prst="rect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5577840"/>
            <a:ext cx="41148" cy="86868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" y="5577840"/>
            <a:ext cx="110486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Watch for EMPTY-COMPONENT COLLAPSE — a mean drifting far from any data gets zero responsibility and stops updating.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5B  ·  PROBABILISTIC MODELS &amp; LATENT STRUCTURE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Bayes on parameters — MLE vs MAP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 regression was a prior all along.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5486400" cy="2468880"/>
          </a:xfrm>
          <a:prstGeom prst="rect">
            <a:avLst/>
          </a:prstGeom>
          <a:solidFill>
            <a:srgbClr val="E8F0FE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94560"/>
            <a:ext cx="5486400" cy="5029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1945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297180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θ̂  =  arg max  P( data | θ 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" y="388620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F2933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“What parameters explain the data best?”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309360" y="2194560"/>
            <a:ext cx="5486400" cy="2468880"/>
          </a:xfrm>
          <a:prstGeom prst="rect">
            <a:avLst/>
          </a:prstGeom>
          <a:solidFill>
            <a:srgbClr val="E8F5E9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09360" y="2194560"/>
            <a:ext cx="5486400" cy="5029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0" y="21945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583680" y="297180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θ̂  =  arg max  P( data | θ ) · P(θ)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583680" y="388620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F2933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“What parameters explain the data — given prior belief?”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5074920"/>
            <a:ext cx="11277295" cy="1417320"/>
          </a:xfrm>
          <a:prstGeom prst="rect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5074920"/>
            <a:ext cx="41148" cy="14173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5120640"/>
            <a:ext cx="11048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REGULARIZATION  =  PRIOR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85800" y="5486400"/>
            <a:ext cx="110486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L2 ridge  =  Gaussian prior on weights.    L1 lasso  =  Laplace prior.    What seemed ad hoc was a statement of prior belief.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22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5B  ·  PROBABILISTIC MODELS &amp; LATENT STRUCTURE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Bayesian linear regression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POSTERIOR over weights — not a point.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11277295" cy="1554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19456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POSTERIOR  (Gaussian × Gaussian → Gaussian)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606040"/>
            <a:ext cx="112772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Σ_post  =  ( X⊤X / σ²  +  I / σ²_w )⁻¹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μ_post   =  Σ_post  ·  X⊤y / σ²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457200" y="3931920"/>
            <a:ext cx="5486400" cy="246888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3931920"/>
            <a:ext cx="54864" cy="24688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41148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85800" y="452628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μ_post  =  RIDGE  with  λ = σ² / σ²_w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85800" y="544068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 regression IS ridge — when you read the prior carefully.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309360" y="3931920"/>
            <a:ext cx="5486400" cy="246888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09360" y="3931920"/>
            <a:ext cx="54864" cy="24688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37960" y="41148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COVARIANCE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537960" y="452628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Σ_post  tells you where the data CONSTRAINS w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537960" y="544068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variance → little data evidence there.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22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5B  ·  PROBABILISTIC MODELS &amp; LATENT STRUCTURE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Two kinds of uncertainty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variance splits in two.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11277295" cy="13716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103120"/>
            <a:ext cx="112772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Var[ y* | x* ]   =   x*⊤ Σ_post x*   +   σ²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57200" y="3611880"/>
            <a:ext cx="5486400" cy="2377440"/>
          </a:xfrm>
          <a:prstGeom prst="rect">
            <a:avLst/>
          </a:prstGeom>
          <a:solidFill>
            <a:srgbClr val="E8F0FE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3611880"/>
            <a:ext cx="5486400" cy="4572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6118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EPISTEMIC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420624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x*⊤ Σ_post x*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31520" y="493776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F2933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Model's IGNORANCE.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1F2933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Shrinks with more data — collect nighttime footage.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309360" y="3611880"/>
            <a:ext cx="5486400" cy="2377440"/>
          </a:xfrm>
          <a:prstGeom prst="rect">
            <a:avLst/>
          </a:prstGeom>
          <a:solidFill>
            <a:srgbClr val="FFF3E0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09360" y="3611880"/>
            <a:ext cx="5486400" cy="45720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9360" y="36118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ALEATORIC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09360" y="420624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σ²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583680" y="493776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F2933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INHERENT noise.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1F2933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Irreducible — more data can't help.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617220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An honest model knows where its training data WAS — and where it wasn't.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22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5B  ·  PROBABILISTIC MODELS &amp; LATENT STRUCTURE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Gaussian processes — a pointer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on FUNCTIONS via the kernel.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11277295" cy="914400"/>
          </a:xfrm>
          <a:prstGeom prst="rect">
            <a:avLst/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94560"/>
            <a:ext cx="41148" cy="9144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194560"/>
            <a:ext cx="11048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 Gaussian process places a prior on functions via a kernel  k(x, x′).  Inference returns a predictive distribution at every point.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3337560"/>
            <a:ext cx="3576218" cy="274320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3337560"/>
            <a:ext cx="3576218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566160"/>
            <a:ext cx="35762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0B4D8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1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594360" y="4297680"/>
            <a:ext cx="33018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spc="150" kern="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IS THE HYPOTHESIS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4892040"/>
            <a:ext cx="321045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Squared exponential → smooth.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Periodic → repeating.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RBF → local similarity.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307738" y="3337560"/>
            <a:ext cx="3576218" cy="274320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07738" y="3337560"/>
            <a:ext cx="3576218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07738" y="3566160"/>
            <a:ext cx="35762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0B4D8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2</a:t>
            </a:r>
            <a:endParaRPr lang="en-US" sz="3800" dirty="0"/>
          </a:p>
        </p:txBody>
      </p:sp>
      <p:sp>
        <p:nvSpPr>
          <p:cNvPr id="19" name="Text 17"/>
          <p:cNvSpPr/>
          <p:nvPr/>
        </p:nvSpPr>
        <p:spPr>
          <a:xfrm>
            <a:off x="4444898" y="4297680"/>
            <a:ext cx="33018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spc="150" kern="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VARIANCE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490618" y="4892040"/>
            <a:ext cx="321045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Grows toward the prior far from training data.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“I don't know.”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158277" y="3337560"/>
            <a:ext cx="3576218" cy="274320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158277" y="3337560"/>
            <a:ext cx="3576218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158277" y="3566160"/>
            <a:ext cx="35762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0B4D8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3</a:t>
            </a:r>
            <a:endParaRPr lang="en-US" sz="3800" dirty="0"/>
          </a:p>
        </p:txBody>
      </p:sp>
      <p:sp>
        <p:nvSpPr>
          <p:cNvPr id="24" name="Text 22"/>
          <p:cNvSpPr/>
          <p:nvPr/>
        </p:nvSpPr>
        <p:spPr>
          <a:xfrm>
            <a:off x="8295437" y="4297680"/>
            <a:ext cx="33018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spc="150" kern="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341157" y="4892040"/>
            <a:ext cx="321045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inference  O(n³).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 / inducing methods for large n.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621792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function-space generalization of Bayesian linear regression. (Rasmussen &amp; Williams.)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22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5B  ·  PROBABILISTIC MODELS &amp; LATENT STRUCTURE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Naive Bayes — the transparent baseline that won't die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Cheap. Interpretable. Usually overconfident — calibrate it.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11277295" cy="13716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103120"/>
            <a:ext cx="112772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 X₁, …, X_d | Y=k )  =  Π_j  P( X_j | Y=k )                ŷ  =  arg max_k  P(Y=k) · Π_j P(X_j | Y=k)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3657600"/>
            <a:ext cx="3576218" cy="178308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3657600"/>
            <a:ext cx="54864" cy="17830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3886200"/>
            <a:ext cx="32104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AS BASELINE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" y="4434840"/>
            <a:ext cx="32104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Quick to fit; cheap inference.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307738" y="3657600"/>
            <a:ext cx="3576218" cy="178308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07738" y="3657600"/>
            <a:ext cx="54864" cy="17830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36338" y="3886200"/>
            <a:ext cx="32104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DATA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36338" y="4434840"/>
            <a:ext cx="32104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Fewer parameters, less overfitting risk.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158277" y="3657600"/>
            <a:ext cx="3576218" cy="178308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58277" y="3657600"/>
            <a:ext cx="54864" cy="17830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86877" y="3886200"/>
            <a:ext cx="32104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+ INTERPRETABLE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386877" y="4434840"/>
            <a:ext cx="32104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Per-word evidence is readable.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57200" y="5577840"/>
            <a:ext cx="11277295" cy="868680"/>
          </a:xfrm>
          <a:prstGeom prst="rect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5577840"/>
            <a:ext cx="41148" cy="86868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" y="5623560"/>
            <a:ext cx="11048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PROBABILITIES ARE TYPICALLY OVERCONFIDENT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85800" y="5943600"/>
            <a:ext cx="110486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Apply Platt scaling or isotonic regression. The highest-probability CLASS can still be correct even when the joint is wrong.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22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5B  ·  PROBABILISTIC MODELS &amp; LATENT STRUCTURE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Aleatoric vs epistemic — what to DO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kinds of “don't know” — two different responses.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5486400" cy="3474720"/>
          </a:xfrm>
          <a:prstGeom prst="rect">
            <a:avLst/>
          </a:prstGeom>
          <a:solidFill>
            <a:srgbClr val="FFF3E0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94560"/>
            <a:ext cx="5486400" cy="50292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1945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ALEATORIC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292608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alea  =  dice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3429000"/>
            <a:ext cx="4937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Inherent randomness.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More data won't help.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651760" y="4480560"/>
            <a:ext cx="1097280" cy="0"/>
          </a:xfrm>
          <a:prstGeom prst="line">
            <a:avLst/>
          </a:prstGeom>
          <a:noFill/>
          <a:ln w="12700">
            <a:solidFill>
              <a:srgbClr val="E651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461772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soft predictions, hedged decisions, deferral.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309360" y="2194560"/>
            <a:ext cx="5486400" cy="3474720"/>
          </a:xfrm>
          <a:prstGeom prst="rect">
            <a:avLst/>
          </a:prstGeom>
          <a:solidFill>
            <a:srgbClr val="E8F0FE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09360" y="2194560"/>
            <a:ext cx="5486400" cy="5029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9360" y="21945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EPISTEMIC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583680" y="292608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episteme  =  knowledge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583680" y="3429000"/>
            <a:ext cx="4937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Model's ignorance.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More data WILL help.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503920" y="4480560"/>
            <a:ext cx="1097280" cy="0"/>
          </a:xfrm>
          <a:prstGeom prst="line">
            <a:avLst/>
          </a:prstGeom>
          <a:noFill/>
          <a:ln w="12700">
            <a:solidFill>
              <a:srgbClr val="1565C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0" y="461772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active learning, broader collection, redo training.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598932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Pedestrian-at-night example: only 3% of training frames were nighttime → mostly EPISTEMIC → collect nighttime footage.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22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5B  ·  PROBABILISTIC MODELS &amp; LATENT STRUCTURE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Measuring uncertainty in practice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tools.  Three costs.  Pick by what the application needs.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3576218" cy="329184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94560"/>
            <a:ext cx="3576218" cy="45720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194560"/>
            <a:ext cx="35762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ENSEMBLES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2834640"/>
            <a:ext cx="302757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Train M independent models.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Variance across members = epistemic.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788109" y="4251960"/>
            <a:ext cx="914400" cy="0"/>
          </a:xfrm>
          <a:prstGeom prst="line">
            <a:avLst/>
          </a:prstGeom>
          <a:noFill/>
          <a:ln w="12700">
            <a:solidFill>
              <a:srgbClr val="0077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4389120"/>
            <a:ext cx="30275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reliable. Most expensive.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307738" y="2194560"/>
            <a:ext cx="3576218" cy="329184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07738" y="2194560"/>
            <a:ext cx="3576218" cy="45720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07738" y="2194560"/>
            <a:ext cx="35762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 DROPOUT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82058" y="2834640"/>
            <a:ext cx="302757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Keep dropout ON at inference.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Sample stochastic predictions.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638648" y="4251960"/>
            <a:ext cx="914400" cy="0"/>
          </a:xfrm>
          <a:prstGeom prst="line">
            <a:avLst/>
          </a:prstGeom>
          <a:noFill/>
          <a:ln w="12700">
            <a:solidFill>
              <a:srgbClr val="0077B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82058" y="4389120"/>
            <a:ext cx="30275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Cheaper. Noisier. Approximation.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158277" y="2194560"/>
            <a:ext cx="3576218" cy="329184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158277" y="2194560"/>
            <a:ext cx="3576218" cy="45720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58277" y="2194560"/>
            <a:ext cx="35762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SCALING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432597" y="2834640"/>
            <a:ext cx="302757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Divide logits by T (chosen on validation).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Fixes calibration only.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9489186" y="4251960"/>
            <a:ext cx="914400" cy="0"/>
          </a:xfrm>
          <a:prstGeom prst="line">
            <a:avLst/>
          </a:prstGeom>
          <a:noFill/>
          <a:ln w="12700">
            <a:solidFill>
              <a:srgbClr val="0077B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432597" y="4389120"/>
            <a:ext cx="30275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Cheap. Doesn't separate uncertainty types.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57200" y="5623560"/>
            <a:ext cx="11277295" cy="822960"/>
          </a:xfrm>
          <a:prstGeom prst="rect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5623560"/>
            <a:ext cx="41148" cy="82296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" y="5623560"/>
            <a:ext cx="11048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Confident  ≠  correct.  Neural networks are overconfident on OOD inputs by default. Start with temperature scaling; add ensembles when OOD matters.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22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5B  ·  PROBABILISTIC MODELS &amp; LATENT STRUCTURE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Chapter artifact — Uncertainty Audit Card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rows. The deliverable for any probabilistic model.</a:t>
            </a:r>
            <a:endParaRPr lang="en-US" sz="15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94560"/>
          <a:ext cx="11277295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8138160"/>
              </a:tblGrid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must be documented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Model type</a:t>
                      </a:r>
                      <a:endParaRPr lang="en-US" sz="12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Generative / discriminative · output format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Uncertainty method</a:t>
                      </a:r>
                      <a:endParaRPr lang="en-US" sz="12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Exact Bayes · ensemble · MC dropout · temp scaling · none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Aleatoric sources</a:t>
                      </a:r>
                      <a:endParaRPr lang="en-US" sz="12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Ambiguous labels · noisy measurements · stochastic outcomes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Epistemic gaps</a:t>
                      </a:r>
                      <a:endParaRPr lang="en-US" sz="12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Regions with insufficient training data · train/deploy mismatch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Calibration status</a:t>
                      </a:r>
                      <a:endParaRPr lang="en-US" sz="12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Reliability diagram · ECE · calibration method used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OOD behavior</a:t>
                      </a:r>
                      <a:endParaRPr lang="en-US" sz="12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the model behaves on inputs unlike training · detector?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Downstream decisions</a:t>
                      </a:r>
                      <a:endParaRPr lang="en-US" sz="12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depends on uncertainty · what breaks if miscalibrated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Monitoring plan</a:t>
                      </a:r>
                      <a:endParaRPr lang="en-US" sz="12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is tracked · what triggers re-calibration or retraining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457200" y="594360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Filled example — pedestrian detector: 5-model ensemble, T = 1.8, ECE = 0.04 — ensemble variance &gt; 0.15 triggers conservative braking.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22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6400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ONE BREATH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14400" y="123444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 prediction can be a DISTRIBUTION —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not a point.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914400" y="2926080"/>
            <a:ext cx="3200400" cy="0"/>
          </a:xfrm>
          <a:prstGeom prst="line">
            <a:avLst/>
          </a:prstGeom>
          <a:noFill/>
          <a:ln w="1524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32004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97280" y="3566160"/>
            <a:ext cx="49377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Latent variables encode hidden structure — GMM + EM is the canonical example.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is monotone but LOCAL — restart, init with k-means, watch the log-likelihood.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 regression splits predictive variance into EPISTEMIC + ALEATORIC.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Bayes is fast and transparent — but calibrate its probabilities.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 ≠ correct. Plan for OOD behavior explicitly.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0" y="32004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0" y="3566160"/>
            <a:ext cx="49377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6 — Representation learning &amp; foundation models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10 — Experiments &amp; claim audits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11 — Reliability: fallback &amp; escalation policies around uncertainty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0" y="5074920"/>
            <a:ext cx="1097280" cy="0"/>
          </a:xfrm>
          <a:prstGeom prst="line">
            <a:avLst/>
          </a:prstGeom>
          <a:noFill/>
          <a:ln w="1016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52120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0" y="553212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Uncertainty Audit Card for one of your own models — then identify the single weakest row and the experiment that would fix it.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1440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820095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ML by Design — Chapter 5b: Probabilistic Models and Latent Structure</dc:title>
  <dc:subject>PptxGenJS Presentation</dc:subject>
  <dc:creator>Sam Urmian</dc:creator>
  <cp:lastModifiedBy>Sam Urmian</cp:lastModifiedBy>
  <cp:revision>1</cp:revision>
  <dcterms:created xsi:type="dcterms:W3CDTF">2026-05-16T23:11:13Z</dcterms:created>
  <dcterms:modified xsi:type="dcterms:W3CDTF">2026-05-16T23:11:13Z</dcterms:modified>
</cp:coreProperties>
</file>