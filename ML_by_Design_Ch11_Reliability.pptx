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  ·  PART 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11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Reliability: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Bias · Robustness · Privacy · Safety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a strong average is not enough.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email that wasn't a metric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international students flagged. 11 already missed work.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429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9115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 advisor writes — the early-warning model flagged ZERO international students.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Eleven of them have already missed assignments.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Overall accuracy and calibration look fine.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Slice recall on international students  =  0.21  vs  global  0.78.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0" y="5806440"/>
            <a:ext cx="4876495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one was watching that slice.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running cases · one reliability frame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Course-support assistant  and  pedestrian detector.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COURSE-SUPPORT ASSISTANT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Language coverage gaps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Wording shift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Sensitive records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High-risk escalation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DETECTOR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9718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Sensor shift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Bystander privacy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Bounded physical risk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four dimensions are TAUGHT in sequence — they FAIL together.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five moves of a bounded-failure review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slice metric to safety case.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Bias as pipeline failure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dashboard · calibration gaps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Robustness under change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· spurious cues · stress tests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Privacy as constraint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· DP · data path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Safety &amp; bounded failure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· trigger · mitigation · fallback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Review card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deliverable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Reliability is a PIPELINE property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property of one checkpoint.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3728" y="2743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728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73656" y="31775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38248" y="2743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8248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48176" y="31775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12768" y="2743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2768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22696" y="31775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87288" y="2743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7288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97216" y="31775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61808" y="2743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1808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71736" y="317754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36328" y="2743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36328" y="2743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11277295" cy="23317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14800"/>
            <a:ext cx="41148" cy="2331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160520"/>
            <a:ext cx="11048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SUBGROUP gap that only appears under SHIFT is a bias AND robustness failure.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GUARDRAIL that leaks examples is a safety AND privacy failure.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" y="5852160"/>
            <a:ext cx="11048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&amp; Guttag — reliability is a life-cycle property.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Harm taxonomy BEFORE metrics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harm. Then choose the metric.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6705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Who is GRANTED or WITHHELD a resource.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53512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535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9535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QUALITY-OF-SERVICE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953512"/>
            <a:ext cx="6705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Uneven ACCURACY across groups.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12464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124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71246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712464"/>
            <a:ext cx="6705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Erasure · stereotyping · group invisibility.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71416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471416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714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47141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471416"/>
            <a:ext cx="6705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Exposure · retention · re-identification.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3036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303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23036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OPERATIONAL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5230368"/>
            <a:ext cx="6705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Severe consequences from a wrong action.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Ask  “What kind of harm are we trying to RULE OUT?”  BEFORE  “Which metric should we compute?”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Subgroup dashboard BEATS one metric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· task metric · escalation · severe failures.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2286000"/>
                <a:gridCol w="2103120"/>
                <a:gridCol w="26517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failures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Routine policy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MULTILINGUAL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VISA / ACCOMMODATION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 (recall 0.62)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CONCERNING row may not be the one with the lowest aggregate accuracy.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 — TPR by group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accuracy hides the failure mode.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(dominant register)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 =  45        FN  =  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38862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23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TPR_A  =  0.90        accuracy  =  0.85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 (multilingual)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 =  8         FN  =  12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95360" y="388620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23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TPR_B  =  0.40        accuracy  =  0.65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system that misses the right route for underrepresented language varieties is NOT merely “slightly worse.”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fairness criteria COLLIDE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Equalized odds  vs  demographic parity.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P(Ŷ = 1 | A = a)  =  TPR_a · π_a   +   FPR_a · (1 − π_a)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74720"/>
            <a:ext cx="41148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2044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EXAMPLE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11048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A   π = 0.40       Group B   π = 0.20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 = 0.80  ·  FPR = 0  in BOTH  →  equalized odds HOLDS.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983480"/>
            <a:ext cx="11277295" cy="146304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983480"/>
            <a:ext cx="41148" cy="1463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0292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 acceptance  =  32%  vs  16%   →  demographic parity BREAKS.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62356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 unequal base rates, the two criteria generally CANNOT both hold. Hardt et al. 2016.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Calibration gaps ARE reliability gaps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threshold · uneven harm.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5603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 score  =  90% correct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Well calibrated.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86400" cy="25603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 score  =  65% correct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7033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Overconfident.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77295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074920"/>
            <a:ext cx="41148" cy="1371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12064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THRESHOLD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486400"/>
            <a:ext cx="11048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Looks principled — while SILENTLY exposing Group B users to much riskier automation. When confidence drives escalation, calibration is part of the SYSTEM CONTRACT.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Robustness under change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reasonable behavior under input / environment change.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(lighting · mic · sensor)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Common · cheap to test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19456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33172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Subgroup-specific measurement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5888" y="278892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Often confounds bias and robustness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(institution · device)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“transfers” usually doesn't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52044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3008" y="352044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365760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or policy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5888" y="411480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Common for retrieval and routing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84632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9834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Deliberately crafted attacks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33008" y="484632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484632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5888" y="49834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over time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5888" y="544068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Slow · silent · cumulative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Hendrycks &amp; Dietterich  —  common corruptions benchmark for systematic shift evaluation.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Spurious correlations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predicts wolf. Scanner predicts pneumonia.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234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234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 vs DOGS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Snow texture — not animal shape.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5501488" cy="1234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194560"/>
            <a:ext cx="54864" cy="1234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33172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5888" y="278892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Scanner artifacts — not pathology.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501488" cy="1234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54864" cy="1234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Room acoustics — not the word.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3008" y="3520440"/>
            <a:ext cx="5501488" cy="1234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3008" y="3520440"/>
            <a:ext cx="54864" cy="1234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365760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ASSISTANT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5888" y="4114800"/>
            <a:ext cx="513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Course codes — not the question.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77295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74920"/>
            <a:ext cx="41148" cy="13716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120640"/>
            <a:ext cx="11048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ZECH (2018) — chest x-ray pneumonia detector AUC 0.93 internal · 0.74 external. Prevalence shift exposed the scanner shortcut.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Mitigation MOVES the failure — not removes 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as a measured tradeoff.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651760"/>
                <a:gridCol w="2651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Familiar slice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Shifted slice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Baseline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+ paraphrase  +  query-rewrite augmentation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Δ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846320"/>
            <a:ext cx="11277295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4846320"/>
            <a:ext cx="41148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89204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CLAIM IS CONDITIONAL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5303520"/>
            <a:ext cx="11048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Augmentation improves robustness to a SPECIFIC shift  at a MEASURABLE  familiar-slice cost. Not a free upgrade.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Design stress tests · don't improvise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shifts BEFORE you measure.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29768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reveals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Support assistant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PARAPHRASE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lexical 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Support assistant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REVISION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under drift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Pedestrian detector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 RAIN / GLARE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Illumination shortcut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Forecasting system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sensors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fragility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Stress tests are more informative when TIED to realistic deployment changes — not chosen AFTER failure is observed.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Natural vs ADVERSARIAL robustness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threats · different defenses.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SHIFT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Dusk testing of a daytime detector.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06908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06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· more data · augmentation.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Deliberately crafted imperceptible perturbations.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06908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06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(TRADES) · certified bounds (Lipschitz).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— clean loss + λ · KL( f(x) ‖ f(x + δ) ) — exposes the robustness-vs-accuracy knob.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Privacy THREAT MODEL first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observer · access path · consequence.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93192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· Access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Health / accommodation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staff · prompt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+ access control + redaction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Student identity / grades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Compromised account · retrieval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 + audit + encryption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Faces / plates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 vendor · retained frames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+ blurring + short retention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ONE-SENTENCE TEST  —  We are trying to stop THIS observer from learning THIS sensitive fact through THIS data path.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Differential privacy in ONE number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ε actually buys.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M(D) ∈ S )  ≤  e^ε  ·  P( M(D') ∈ S )            Adv(ε)  ≤  ( e^ε − 1 ) / ( e^ε + 1 )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3576218" cy="21945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 =  0.1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 ≤  0.05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Strong privacy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07738" y="3749040"/>
            <a:ext cx="3576218" cy="21945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7738" y="37490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7738" y="393192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 =  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07738" y="457200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 ≤  0.46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0618" y="52578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Common practical floor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3749040"/>
            <a:ext cx="3576218" cy="21945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37490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393192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 =  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58277" y="457200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 ≤  0.987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41157" y="52578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Mostly composes math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ε is a POLICY decision. Operationally meaningful range  ε ∈ [0.1, 3].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Privacy lives in the WHOLE data path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file is not the threat surface.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RAW FIELDS collected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34056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734056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JOINED / LINKED later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73552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73552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LOGGED at inference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13048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13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3813048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WHO can inspect logs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352544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52544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352544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is retained for training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89204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48920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outputs may RECONSTRUCT private info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852160"/>
            <a:ext cx="11277295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852160"/>
            <a:ext cx="41148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852160"/>
            <a:ext cx="11048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safest model architecture in the world cannot repair careless RETENTION and ACCESS RULES.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Safety — from errors to HAZARDS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wrong becomes harmful.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Safety  =  bounded · anticipated · monitored failures.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486400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337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errors are POSSIBLE?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337560"/>
            <a:ext cx="5486400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61188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86600" y="3337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Which are SEVERE?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5486400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434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LIKELY are they?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4434840"/>
            <a:ext cx="5486400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4709160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6600" y="4434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MITIGATIONS reduce impact?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760720"/>
            <a:ext cx="41148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760720"/>
            <a:ext cx="11048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Support-assistant hazard — a CONFIDENT answer on visa · accommodation · self-harm · disciplinary content.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Lightweight SAFETY CASE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fields · one coherent argument.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194560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High-risk question answered DIRECTLY.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53512"/>
            <a:ext cx="54864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535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953512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Distress · immigration · disability cues in the message.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12464"/>
            <a:ext cx="54864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1246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712464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Intent detection · grounding · conservative threshold.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471416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71416"/>
            <a:ext cx="54864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714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4471416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Human routing.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230368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30368"/>
            <a:ext cx="54864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23036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5230368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Rise in unsafe direct answers on audited slices.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“The model is accurate” is NOT a safety case.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Selective automation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abstention as a DESIGN MOVE.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Selective risk      R_φ  =  E[ a(x) · ℓ ]  /  E[ a(x)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AUTOMATION · HIGH CONFIDENCE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82% coverage · very low factual error.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Abstains on low-confidence.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657600"/>
            <a:ext cx="5486400" cy="228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65760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AUTOMATION · FORCED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2519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96% coverage · forces uncertain answers.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Higher severe-error rate.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· selective classification — make low-confidence cases fall out of automation GRACEFULLY.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Refusing to deploy IS a reliability decision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Restraint as engineering.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1091153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SUBGROUP failures are severe,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PRIVACY risks are unacceptable,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 FALLBACK behavior is missing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 a high-stakes setting —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correct action is to REDESIGN the system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 REFUSE deployment.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5074920"/>
            <a:ext cx="11277295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5074920"/>
            <a:ext cx="41148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074920"/>
            <a:ext cx="11048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Ethics IS engineering work — subgroup metrics are measurements · robustness tests are experimental design · safety analysis shapes ARCHITECTURE.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Reliability Review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rows of bounded failure.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documented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Critical slices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Subgroups whose failure mode you must 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Shift scenarios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deployment changes to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Spurious-cue or measurement risks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shortcut hypotheses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Privacy threat model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· observer · access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Severe hazards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actions with worst-case consequences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Safety case  (per hazard)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· mitigation ·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Fallback &amp; review path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when the system declines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Monitoring triggers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that auto-escalate to human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No-deploy condition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make this NOT 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— multilingual phrasing · visa questions · distress · semester shift · escalation misses on high-risk slices.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Reliability is the discipline of refusing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 let an AVERAGE answer a SLICE question.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PIPELINE property — bias, robustness, privacy, safety fail TOGETHER.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HARM before the metric. Subgroup dashboard · not one number.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MOVES the failure — measure both sides of the tradeoff.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case  =  hazard + trigger + mitigation + fallback + 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deployment is ENGINEERING — sometimes the right call.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 — From models to systems (operational deployment)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— Suresh &amp; Guttag 2021 · Hardt et al. 2016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slice-level evaluation harness for your case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three rows of the Reliability Review Card for the support assistant — one subgroup slice · one severe hazard · one fallback. Name the evidence still missing.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11: Reliability: Bias, Robustness, Privacy, and Safety</dc:title>
  <dc:subject>PptxGenJS Presentation</dc:subject>
  <dc:creator>Sam Urmian</dc:creator>
  <cp:lastModifiedBy>Sam Urmian</cp:lastModifiedBy>
  <cp:revision>1</cp:revision>
  <dcterms:created xsi:type="dcterms:W3CDTF">2026-05-17T12:53:03Z</dcterms:created>
  <dcterms:modified xsi:type="dcterms:W3CDTF">2026-05-17T12:53:03Z</dcterms:modified>
</cp:coreProperties>
</file>