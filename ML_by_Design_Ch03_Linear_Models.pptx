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D5986"/>
            </a:solidFill>
            <a:ln w="38100" cap="flat">
              <a:solidFill>
                <a:srgbClr val="2D5986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2D5986"/>
              </a:solidFill>
              <a:ln w="9525" cap="flat">
                <a:solidFill>
                  <a:srgbClr val="2D598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0.6</c:v>
                </c:pt>
                <c:pt idx="1">
                  <c:v>1.2</c:v>
                </c:pt>
                <c:pt idx="2">
                  <c:v>2</c:v>
                </c:pt>
                <c:pt idx="3">
                  <c:v>2.8</c:v>
                </c:pt>
                <c:pt idx="4">
                  <c:v>3.5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0.8</c:v>
                </c:pt>
                <c:pt idx="2">
                  <c:v>1.3</c:v>
                </c:pt>
                <c:pt idx="3">
                  <c:v>2</c:v>
                </c:pt>
                <c:pt idx="4">
                  <c:v>2.8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A: ŷ = a + b·x</c:v>
                </c:pt>
              </c:strCache>
            </c:strRef>
          </c:tx>
          <c:spPr>
            <a:solidFill>
              <a:srgbClr val="E65100"/>
            </a:solidFill>
            <a:ln w="38100" cap="flat">
              <a:solidFill>
                <a:srgbClr val="E65100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0.6</c:v>
                </c:pt>
                <c:pt idx="1">
                  <c:v>1.2</c:v>
                </c:pt>
                <c:pt idx="2">
                  <c:v>2</c:v>
                </c:pt>
                <c:pt idx="3">
                  <c:v>2.8</c:v>
                </c:pt>
                <c:pt idx="4">
                  <c:v>3.5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0.5</c:v>
                </c:pt>
                <c:pt idx="1">
                  <c:v>0.83</c:v>
                </c:pt>
                <c:pt idx="2">
                  <c:v>1.27</c:v>
                </c:pt>
                <c:pt idx="3">
                  <c:v>1.7</c:v>
                </c:pt>
                <c:pt idx="4">
                  <c:v>2.1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2D5986"/>
                    </a:solidFill>
                    <a:latin typeface="Arial"/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2D5986"/>
                    </a:solidFill>
                    <a:latin typeface="Arial"/>
                  </a:rPr>
                  <a:t>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D5986"/>
            </a:solidFill>
            <a:ln w="38100" cap="flat">
              <a:solidFill>
                <a:srgbClr val="2D5986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2D5986"/>
              </a:solidFill>
              <a:ln w="9525" cap="flat">
                <a:solidFill>
                  <a:srgbClr val="2D598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0.6</c:v>
                </c:pt>
                <c:pt idx="1">
                  <c:v>1.2</c:v>
                </c:pt>
                <c:pt idx="2">
                  <c:v>2</c:v>
                </c:pt>
                <c:pt idx="3">
                  <c:v>2.8</c:v>
                </c:pt>
                <c:pt idx="4">
                  <c:v>3.5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0.8</c:v>
                </c:pt>
                <c:pt idx="2">
                  <c:v>1.3</c:v>
                </c:pt>
                <c:pt idx="3">
                  <c:v>2</c:v>
                </c:pt>
                <c:pt idx="4">
                  <c:v>2.8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B: ŷ = a + b·x + c·x²</c:v>
                </c:pt>
              </c:strCache>
            </c:strRef>
          </c:tx>
          <c:spPr>
            <a:solidFill>
              <a:srgbClr val="2E7D32"/>
            </a:solidFill>
            <a:ln w="38100" cap="flat">
              <a:solidFill>
                <a:srgbClr val="2E7D32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0.6</c:v>
                </c:pt>
                <c:pt idx="1">
                  <c:v>1.2</c:v>
                </c:pt>
                <c:pt idx="2">
                  <c:v>2</c:v>
                </c:pt>
                <c:pt idx="3">
                  <c:v>2.8</c:v>
                </c:pt>
                <c:pt idx="4">
                  <c:v>3.5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0.62</c:v>
                </c:pt>
                <c:pt idx="1">
                  <c:v>0.79</c:v>
                </c:pt>
                <c:pt idx="2">
                  <c:v>1.3</c:v>
                </c:pt>
                <c:pt idx="3">
                  <c:v>2.06</c:v>
                </c:pt>
                <c:pt idx="4">
                  <c:v>2.83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2D5986"/>
                    </a:solidFill>
                    <a:latin typeface="Arial"/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2D5986"/>
                    </a:solidFill>
                    <a:latin typeface="Arial"/>
                  </a:rPr>
                  <a:t>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L2 — smooth shrinkage</c:v>
                </c:pt>
              </c:strCache>
            </c:strRef>
          </c:tx>
          <c:spPr>
            <a:solidFill>
              <a:srgbClr val="0077B6"/>
            </a:solidFill>
            <a:ln w="38100" cap="flat">
              <a:solidFill>
                <a:srgbClr val="0077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1.5</c:v>
                </c:pt>
                <c:pt idx="2">
                  <c:v>1.1</c:v>
                </c:pt>
                <c:pt idx="3">
                  <c:v>0.8</c:v>
                </c:pt>
                <c:pt idx="4">
                  <c:v>0.6</c:v>
                </c:pt>
                <c:pt idx="5">
                  <c:v>0.4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L1 — sparse (hits zero)</c:v>
                </c:pt>
              </c:strCache>
            </c:strRef>
          </c:tx>
          <c:spPr>
            <a:solidFill>
              <a:srgbClr val="E65100"/>
            </a:solidFill>
            <a:ln w="3810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1.2</c:v>
                </c:pt>
                <c:pt idx="2">
                  <c:v>0.5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2D5986"/>
                    </a:solidFill>
                    <a:latin typeface="Arial"/>
                  </a:rPr>
                  <a:t>regularization strength  λ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2D5986"/>
                    </a:solidFill>
                    <a:latin typeface="Arial"/>
                  </a:rPr>
                  <a:t>|w|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3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Linear Models and Representation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Can one weighted sum already solve the task?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Can one weighted sum already solve the task?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fancy models — a serious question, not a warm-up.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0292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a controlled linear model performs well,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every later complication must justify itself against it.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it fails, the failure pattern usually says exactly what kind of complication is needed.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2103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IS USUALLY THE RIGHT FIRST BASELINE FOR…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606040"/>
            <a:ext cx="5760720" cy="1143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606040"/>
            <a:ext cx="41148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Structured tabular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baselines, interpretable coefficients — often surprisingly strong with careful features.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840480"/>
            <a:ext cx="5760720" cy="1143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3840480"/>
            <a:ext cx="41148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Sparse text 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or TF-IDF where weighted word evidence carries most of the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5074920"/>
            <a:ext cx="5760720" cy="11430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5074920"/>
            <a:ext cx="41148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Raw images, audio, long sequences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5532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only baseline value — unless a strong representation has been learned elsewhere.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CDC trend analysis still uses logistic regression for dichotomous risk and linear regression for continuous outcomes — these are not teaching artifacts.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six moves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turns the chapter into one practiced habit.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Representation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the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Residuals, fit, gradient descent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probability → decision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Reading coefficients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correlation, omitted variables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Regularization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L2 · controlled simplicity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8277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8277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1157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41157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Bias–Variance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341157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error is actually made of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Representation IS the model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model never sees “a house” — it sees the encoded vector.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TWO-LAYER 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φ ( x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  →   w</a:t>
            </a:r>
            <a:pPr algn="ctr" indent="0" marL="0">
              <a:buNone/>
            </a:pPr>
            <a:r>
              <a:rPr lang="en-US" sz="3000" b="1" baseline="3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⊤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φ ( x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 +  b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357621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840480"/>
            <a:ext cx="54864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2336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8056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does the original data look like?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7738" y="3840480"/>
            <a:ext cx="357621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7738" y="3840480"/>
            <a:ext cx="54864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6338" y="402336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36338" y="448056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numbers will the model actually see?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58277" y="3840480"/>
            <a:ext cx="357621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8277" y="3840480"/>
            <a:ext cx="54864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6877" y="402336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LOST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86877" y="448056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information does the encoding throw away?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weak representation cannot be saved by better weights. A strong representation makes even a simple weighted sum work well.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common feature types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choices make modelling assumptions visible.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15258" cy="310896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1525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Age · area · temperature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757629" y="356616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490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but choices remain — total or log? centered? interactions?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38218" y="2194560"/>
            <a:ext cx="3515258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2194560"/>
            <a:ext cx="351525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8218" y="21945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66818" y="28803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One-hot encoding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38648" y="356616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2538" y="37490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gets its own indicator — no fake ordering. Drop one or use regularization to avoid collinearity.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19237" y="2194560"/>
            <a:ext cx="3515258" cy="31089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9237" y="2194560"/>
            <a:ext cx="351525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9237" y="21945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47837" y="28803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Bag-of-words / TF-IDF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19666" y="356616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93557" y="37490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and sparse — exactly where linear models stay strong.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486400"/>
            <a:ext cx="11277295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4864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for </a:t>
            </a:r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= North</a:t>
            </a:r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[ 1, 0, 0, 0 ]        </a:t>
            </a:r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for </a:t>
            </a:r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 cash offer today”</a:t>
            </a:r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[ 1, 1, 1, 1 ]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Interaction features &amp; basis expansion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thoughtful feature map extends a linear model further than you'd expect.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φ(x) = [ x₁, x₂, x₁², x₂², x₁·x₂ ]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w⊤ φ(x) + b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14400" y="4434840"/>
            <a:ext cx="45720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720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Non-linear in the raw input.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Still linear in the parameters.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514600"/>
            <a:ext cx="5394960" cy="3520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514600"/>
            <a:ext cx="54864" cy="3520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6517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 student risk from: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 x₁  =  fraction of assignments missed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 x₂  =  week of semester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x₁ · x₂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42062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Late-semester missing work matters more than early missing work.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 coefficient is positive — captures the joint effect that two main effects can’t.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126480"/>
            <a:ext cx="11277295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6126480"/>
            <a:ext cx="41148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6126480"/>
            <a:ext cx="11048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Add interactions deliberately, not exhaustively — all pairwise products of d features blow up to d(d−1)/2.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generic linear pipeline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classification share the same backbone.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8028" y="24688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F4FD"/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028" y="24688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98268" y="30175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18308" y="24688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8308" y="24688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Feature map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φ(x)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38548" y="30175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58588" y="24688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F4FD"/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8588" y="24688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Weighted sum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w⊤φ(x) + 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78828" y="30175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98868" y="24688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8868" y="24688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Output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19108" y="30175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39148" y="24688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DE0FA"/>
          </a:solidFill>
          <a:ln w="1524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9148" y="24688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use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5486400" cy="13716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output transform  =  identity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target  =  numeric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4023360"/>
            <a:ext cx="5486400" cy="13716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0233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4526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output transform  =  sigmoid σ(·)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target  =  probability / class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715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RESCUE TEST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the line fails — first ask whether one transformed feature would rescue it. Only then ask whether the model family is wrong.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Linear regression — the first concrete case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numeric target as an affine function of the features.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 =  w⊤x  +  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RESIDUAL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 =  (1/n) Σ (yᵢ − ŷᵢ)²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3576218" cy="2011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23360"/>
            <a:ext cx="357621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5196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y − 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predicted too 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predicted too high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7738" y="4023360"/>
            <a:ext cx="3576218" cy="2011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07738" y="4023360"/>
            <a:ext cx="357621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0618" y="425196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90618" y="461772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PARAMETERS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90618" y="52120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raw input.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ŷ = nonlinear φ(x), not nonlinear w.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8277" y="4023360"/>
            <a:ext cx="3576218" cy="2011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8277" y="4023360"/>
            <a:ext cx="357621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1157" y="425196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GEOMETRY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41157" y="461772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X⊤r = 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41157" y="52120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orthogonal to every feature direction the model used.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2 said why squared error is a useful training loss. Here the skill is reading what the residual says about the baseline.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Minimizing loss — gradient descent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 the direction that decreases the loss fastest.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←  w  −  η  ·  ∇w L(w)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5486400" cy="2103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931920"/>
            <a:ext cx="54864" cy="2103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FOR MSE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 MSE / ∂ wⱼ  =  (2/n) Σ (ŷᵢ − yᵢ) · xᵢⱼ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5257800"/>
            <a:ext cx="109728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3949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gradient component tells one weight which way to move and by how much. η = learning rate controls step size.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394960" cy="21031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931920"/>
            <a:ext cx="54864" cy="2103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4434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Loss should strictly DECREASE after one step.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50292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loss_before and loss_after. If loss didn’t fall:  η too large → halve it; gradient wrong → finite-difference check; non-convex region → reinitialize.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Cheap to check. Expensive to miss.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Worked example — apartment prices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feature values to a predicted price to a residual.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 =  48  +  3.1 · area  +  11 · bedrooms  −  1.4 · age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— 82 m², 3 beds, age 6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intercept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48.0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3.1 · area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254.2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11 · bedrooms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33.0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−1.4 · age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−8.4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TOTAL ŷ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326.8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21792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— if true price = 338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840480"/>
            <a:ext cx="5486400" cy="12801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38404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=  338  −  326.8  =  +11.2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217920" y="5257800"/>
            <a:ext cx="548640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5257800"/>
            <a:ext cx="4114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52578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interpretable model is not the same as a correct interpretation. Coefficients are interpretable only relative to the features included, their scales, and the correlations among them.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Move from features → score → residual. Then ask what the residual pattern says — that’s the diagnostic skill.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Residual diagnostics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not bookkeeping — they’re the cheapest representation diagnostic you’ll ever run.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≈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Residuals CURVE with fitted value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560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nonlinear structure in the raw feature.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BASELINE MOVE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squared, log, or spline-like feature.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11277295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7472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≈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801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Residual SPREAD grows with prediction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840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variance changes by scale (heteroscedasticity).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BASELINE MOVE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3840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target or report scale-aware uncertainty.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11277295" cy="11887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754880"/>
            <a:ext cx="54864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5488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≈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28016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80160" y="5120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slice has EXTREME residuals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slice-specific signal or shifted data source.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0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BASELINE MOVE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slice indicator, missingness flag, or separate slice evaluation.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residual diagnostic is useful only when it leads to a concrete next move.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Linear in the parameters — not in the world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“Linear” names the weighting rule. Not the shape of reality.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19456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17920" y="219456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5715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LINEAR MODELS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B is still linear in the parameters — the curvature is carried by the feature map φ(x) = [x, x²], not by a nonlinear weighting rule.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Logistic regression — score → probability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weighted-sum backbone. The output transform changes everything downstream.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=  w⊤x  +  b              σ(z)  =  1 / ( 1 + e⁻ᶻ 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 = 1 | x)  =  σ(w⊤x + b)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3576218" cy="2103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931920"/>
            <a:ext cx="357621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6052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534924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any real number — the logit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07738" y="3931920"/>
            <a:ext cx="3576218" cy="2103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7738" y="3931920"/>
            <a:ext cx="357621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0618" y="416052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90618" y="457200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σ(z)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490618" y="534924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between 0 and 1 — order-preserving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58277" y="3931920"/>
            <a:ext cx="3576218" cy="2103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8277" y="3931920"/>
            <a:ext cx="357621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1157" y="416052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41157" y="457200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if σ(z) ≥ τ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341157" y="534924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policy choice (Ch. 2 turf)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Log-odds form:  log [ p / (1−p) ]  =  w⊤x + b.  Logistic regression is a LINEAR scoring rule wrapped in σ.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Worked example — a spam probability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hand: feature → contribution → logit → probability → label.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6400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  <a:gridCol w="1920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suspicious-link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urgent language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sender-risk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bias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−2.00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TOTAL LOGIT z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0" y="2194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5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σ(0.72)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7315200" y="2834640"/>
            <a:ext cx="438912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2880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 = 1 | x)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31546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 0.673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315200" y="4434840"/>
            <a:ext cx="4389120" cy="6858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0" y="4434840"/>
            <a:ext cx="41148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43800" y="4434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0.50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46920" y="4434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0.50  →  FLAG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0" y="5212080"/>
            <a:ext cx="4389120" cy="6858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0" y="5212080"/>
            <a:ext cx="41148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43800" y="5212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0.70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646920" y="5212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0.70  →  do not flag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Score, probability, and decision are three different objects — and policy lives at the threshold.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0.5 logistic threshold IS a score threshold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σ(0) = 0.5 — so the probability cutoff folds back into the score.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 = 0.5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1  ⇔  w⊤x + b  ≥  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4864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423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τ ∈ (0,1)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3063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1  ⇔  w⊤x + b  ≥  log[τ/(1−τ)]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— logit z → probability σ(z)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4754880"/>
          <a:ext cx="944849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55448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−2.0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−1.0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0.0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1.0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2.0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0.27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 τ=0.5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5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5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effect:  dP/dx_j  =  σ(z) · (1 − σ(z)) · w_j  —  the same coef has different impact at different points.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Reading coefficients without fooling yourself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guardrails before any “this feature matters more” claim.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331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$-1.4 / year of age  =  $-0.117 / month of age  —  same effect, different number.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09560" y="2331720"/>
            <a:ext cx="3824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before comparing magnitudes.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1277295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3611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correlated features split a single effect almost arbitrarily.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09560" y="3611880"/>
            <a:ext cx="3824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Bootstrap-resample. If the coefficient swings sign or magnitude, the narrative is fragile.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11277295" cy="11887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754880"/>
            <a:ext cx="54864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754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OMITTED VARIABLES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200" y="4892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Education coefficient absorbs missing experience and industry effects.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09560" y="4892040"/>
            <a:ext cx="3824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≠ causal. The model alone can’t separate direct from indirect.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Coefficients are not self-explaining truths. They are statements about the fitted relationship inside a particular representation.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Prediction is not Intervention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expensive mistake a transparent linear model invites.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8404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(observation)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Students who attend office hours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earn higher grades.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651760" y="4297680"/>
            <a:ext cx="10972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screening, ranking, or surfacing cases for review.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84048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48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 (action)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71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Forcing students to attend office hours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will raise grades.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503920" y="4297680"/>
            <a:ext cx="109728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434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randomized experiment, natural experiment, or explicit causal design.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943600"/>
            <a:ext cx="4114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94360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Reserve “causes,” “effect,” “would improve outcomes if changed” for settings where the causal design has actually been defended.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Regularization — controlled simplicity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penalties. Two geometries. Two stories.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19456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(RIDGE)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‖w‖₂²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round contours  ·  smooth shrinkage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5486400" cy="21945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(LASSO)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788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‖w‖₁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8368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diamond contours  ·  sparse solutions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4617720"/>
          <a:ext cx="11277295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Ridge gives a unique solution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convexity, closed form, less variance — for a little bias.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NORMAL EQUATIONS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ŵ_λ  =  ( X⊤X  +  λI )⁻¹  X⊤y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3931920"/>
          <a:ext cx="853409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75688"/>
                <a:gridCol w="2075688"/>
                <a:gridCol w="207568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train acc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val acc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0.76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λ is a model-selection choice — let validation, not aesthetics, decide. Standardize features when regularization is active.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Bias–Variance — what error is actually made of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error is a SUM, not a single quantity.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SQUARED ERROR  at  x₀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 ( y − f̂(x₀) )² ]  =  bias²  +  variance  +  σ²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3576218" cy="20116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931920"/>
            <a:ext cx="54864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6908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52628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structural miss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937760"/>
            <a:ext cx="32104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 too restricted to represent the truth on average across training sets.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07738" y="3931920"/>
            <a:ext cx="3576218" cy="20116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7738" y="3931920"/>
            <a:ext cx="54864" cy="2011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6338" y="406908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36338" y="452628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sample sensitivity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36338" y="4937760"/>
            <a:ext cx="32104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fit fluctuates as the training set changes.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58277" y="3931920"/>
            <a:ext cx="3576218" cy="2011680"/>
          </a:xfrm>
          <a:prstGeom prst="rect">
            <a:avLst/>
          </a:prstGeom>
          <a:solidFill>
            <a:srgbClr val="ECEFF1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8277" y="3931920"/>
            <a:ext cx="54864" cy="20116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6877" y="406908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  NOISE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6877" y="452628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irreducible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86877" y="4937760"/>
            <a:ext cx="32104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below which no model can go. No amount of engineering helps.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Increasing complexity typically REDUCES bias and INCREASES variance. Optimum sits in the middle.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the error is too high — which term is at fault?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two diagnoses, two completely different moves.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8404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 DOMINATES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error HIGH.  Test error HIGH.  Gap SMALL.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109728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51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model class cannot represent the target.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features  ·  more flexible family  ·  REMOVE regularization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194560"/>
            <a:ext cx="5486400" cy="38404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194560"/>
            <a:ext cx="548640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DOMINATES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926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error LOW.  Test error HIGH.  Gap LARGE.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388620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977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4251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model has memorized the particular training set.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data  ·  more regularization  ·  simpler model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 practice you only see the SUM (held-out error). The decomposition is a thinking tool — not a measurement tool.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Sparse linear models stay strong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text and high-dimensional tabular work — not a warm-up.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8404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Logistic regression + TF-IDF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within a few points of deep models on news topics, spam, sentiment — at a fraction of the cost.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892040"/>
            <a:ext cx="109728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9834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The vocabulary already exposes the signal. “Inheritance” is informative about legal topics; “free” about spam.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5486400" cy="38404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194560"/>
            <a:ext cx="54864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 TABULAR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L1-regularized logistic / linear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3566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credit scoring, clinical risk: hundreds of features, mostly additive structure.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4892040"/>
            <a:ext cx="10972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9834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Tree ensembles often win eventually — rarely by a margin that justifies 10× the compute during prototyping.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Before training any deep model, ask: does a regularized linear baseline on engineered features already work?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·  LINEAR MODELS AND REPRESENTATION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Baseline Design Sheet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defensible model written down before any expressive method.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772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stated clearly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Task &amp; target type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or classification — and what is the 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Raw input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original data looks like before encoding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Feature map  φ(x)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engineered or encoded features the weighted sum will see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Baseline model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regression, logistic regression, or another linear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Regularization sweep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 types and strengths to compare on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Interpretation boundary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coefficients can — and CANNOT — justify saying about the world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Failure pattern to watch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kind of error would signal that linearity has stopped paying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Next structural hypothesis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broader family becomes justified IF the baseline fails for that reason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Framing memo (Ch.1) → metric &amp; action worksheet (Ch.2) → evaluation plan (Ch.2b) → baseline sheet (Ch.3).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Linear models are first a representation test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and only second a fitting procedure.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IS the model.  Linear in the parameters — not in the world.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classification share one pipeline; only the output transform changes.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coefficients carefully — scale, correlation, omitted variables.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 on validation — never on aesthetics.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of a linear baseline is diagnostic, not insulting.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 — Structure beyond linearity (trees, kernels, neighbors, naive Bayes)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 — Optimization &amp; neural networks (learned feature maps)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 — Representation learning &amp; foundation models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one-page Baseline Design Sheet for your running case — and run a small λ-sweep against your validation data.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3: Linear Models and Representation</dc:title>
  <dc:subject>PptxGenJS Presentation</dc:subject>
  <dc:creator>Sam Urmian</dc:creator>
  <cp:lastModifiedBy>Sam Urmian</cp:lastModifiedBy>
  <cp:revision>1</cp:revision>
  <dcterms:created xsi:type="dcterms:W3CDTF">2026-05-16T22:25:53Z</dcterms:created>
  <dcterms:modified xsi:type="dcterms:W3CDTF">2026-05-16T22:25:53Z</dcterms:modified>
</cp:coreProperties>
</file>