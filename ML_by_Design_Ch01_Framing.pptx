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1325880"/>
            <a:ext cx="256032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91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BY DESIGN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24028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Chapter 1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Framing Learning Problems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914400" y="4434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8CAE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From institutional ambition to a defensible learning problem.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5486400"/>
            <a:ext cx="3657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5669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Sam Urmian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50-minute introductory lecture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 ·  FRAMING LEARNING PROBLEMS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“Use AI for X” is not a learning problem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ambitions sound sensible but stay too vague for technical work.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slogans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5303520" cy="292608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514600"/>
            <a:ext cx="41148" cy="29260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60604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“Use AI for student success.”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“Detect bad content.”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“Find fake news.”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“Predict weak students.”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09360" y="2103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learning problem names…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09360" y="2514600"/>
            <a:ext cx="5394960" cy="2926080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2514600"/>
            <a:ext cx="41148" cy="29260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260604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 that will follow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proxy target the model will learn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acceptable inputs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that could justify the claim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57150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If any of those five is missing, no later math will rescue the project.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 ·  FRAMING LEARNING PROBLEMS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Today’s plan — eight moves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section turns ambition into something you can actually test.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2613584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2613584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331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94360" y="2880360"/>
            <a:ext cx="233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Opening dilemma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3355848"/>
            <a:ext cx="233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messy real problem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45104" y="2194560"/>
            <a:ext cx="2613584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45104" y="2194560"/>
            <a:ext cx="2613584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82264" y="2331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482264" y="2880360"/>
            <a:ext cx="233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Prediction ≠ Decision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482264" y="3355848"/>
            <a:ext cx="233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Scores, thresholds, mistakes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33008" y="2194560"/>
            <a:ext cx="2613584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33008" y="2194560"/>
            <a:ext cx="2613584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70168" y="2331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370168" y="2880360"/>
            <a:ext cx="233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Objective Hierarchy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70168" y="3355848"/>
            <a:ext cx="233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· Proxy · Label · Metric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120911" y="2194560"/>
            <a:ext cx="2613584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20911" y="2194560"/>
            <a:ext cx="2613584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58071" y="2331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4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9258071" y="2880360"/>
            <a:ext cx="233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Five Commitments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258071" y="3355848"/>
            <a:ext cx="233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· Data · Repr. · Objective · Eval.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297680"/>
            <a:ext cx="2613584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297680"/>
            <a:ext cx="2613584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44348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5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594360" y="4983480"/>
            <a:ext cx="233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Proxy Audit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94360" y="5458968"/>
            <a:ext cx="233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openings → defensible tasks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345104" y="4297680"/>
            <a:ext cx="2613584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45104" y="4297680"/>
            <a:ext cx="2613584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82264" y="44348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6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3482264" y="4983480"/>
            <a:ext cx="233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Data as Evidence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482264" y="5458968"/>
            <a:ext cx="233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· labeling · timing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33008" y="4297680"/>
            <a:ext cx="2613584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33008" y="4297680"/>
            <a:ext cx="2613584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70168" y="44348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7</a:t>
            </a:r>
            <a:endParaRPr lang="en-US" sz="2800" dirty="0"/>
          </a:p>
        </p:txBody>
      </p:sp>
      <p:sp>
        <p:nvSpPr>
          <p:cNvPr id="41" name="Text 39"/>
          <p:cNvSpPr/>
          <p:nvPr/>
        </p:nvSpPr>
        <p:spPr>
          <a:xfrm>
            <a:off x="6370168" y="4983480"/>
            <a:ext cx="233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Evaluation Preview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370168" y="5458968"/>
            <a:ext cx="233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vs. hidden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9120911" y="4297680"/>
            <a:ext cx="2613584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120911" y="4297680"/>
            <a:ext cx="2613584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258071" y="44348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8</a:t>
            </a:r>
            <a:endParaRPr lang="en-US" sz="2800" dirty="0"/>
          </a:p>
        </p:txBody>
      </p:sp>
      <p:sp>
        <p:nvSpPr>
          <p:cNvPr id="46" name="Text 44"/>
          <p:cNvSpPr/>
          <p:nvPr/>
        </p:nvSpPr>
        <p:spPr>
          <a:xfrm>
            <a:off x="9258071" y="4983480"/>
            <a:ext cx="233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Framing Memo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258071" y="5458968"/>
            <a:ext cx="233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deliverable for this chapter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 ·  FRAMING LEARNING PROBLEMS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Opening dilemma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“Can we identify students who may need help early?”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5486400" cy="3657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286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weak version: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26974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“Predict weak students.”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77240" y="3657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Hides nearly every important technical and ethical decision.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4206240"/>
            <a:ext cx="137160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38912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If this stays vague, later math conceals the confusion — it does not resolve it.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21031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slogan hides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2606040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93408" y="25146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the user?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0" y="3108960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93408" y="30175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action will follow?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0" y="3611880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93408" y="35204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counts as “weak”?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00800" y="4114800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93408" y="40233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inputs are acceptable?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400800" y="4617720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93408" y="45262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inputs are available at prediction time?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400800" y="5120640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93408" y="50292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most harmful mistake?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 ·  FRAMING LEARNING PROBLEMS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Where we’re heading: a framing memo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 rough memo is better than a vague ambition.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72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Rough first-pass entry — student support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Decision and user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Adviser decides whether to invite a student to a check-in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Proxy target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of missing the first two major deadlines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Acceptable inputs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quizzes, attendance, learning-platform activity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Costliest mistake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a student who needed timely human support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Downstream action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Outreach and support — not punishment, not automation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Review path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human adviser interprets the score in context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59436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Read the rest of Chapter 1 as the work needed to justify every row.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 ·  FRAMING LEARNING PROBLEMS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Where machine learning fits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performance through data or experience — not hand-written rules.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2194560"/>
            <a:ext cx="6858000" cy="3840480"/>
          </a:xfrm>
          <a:prstGeom prst="roundRect">
            <a:avLst>
              <a:gd name="adj" fmla="val 3571"/>
            </a:avLst>
          </a:prstGeom>
          <a:solidFill>
            <a:srgbClr val="EBF2FD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2331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280160" y="2834640"/>
            <a:ext cx="5120640" cy="3017520"/>
          </a:xfrm>
          <a:prstGeom prst="roundRect">
            <a:avLst>
              <a:gd name="adj" fmla="val 3636"/>
            </a:avLst>
          </a:prstGeom>
          <a:solidFill>
            <a:srgbClr val="BDD4F0"/>
          </a:solidFill>
          <a:ln w="12700">
            <a:solidFill>
              <a:srgbClr val="0353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4480" y="29443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35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737360" y="347472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023E8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4520" y="35844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83080" y="397764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nets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nets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multilayer nets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397764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35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035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models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035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46520" y="397764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systems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0" y="2194560"/>
            <a:ext cx="3474720" cy="384048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2194560"/>
            <a:ext cx="41148" cy="3840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0" y="2286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sentence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12480" y="265176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is the part of AI that improves through data or experience rather than hand-written rules.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12480" y="416052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the experience arrives as labels, sometimes as rewards, sometimes as targets created from the data itself.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 ·  FRAMING LEARNING PROBLEMS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 little notation — read it informally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symbols to talk about “what is being learned.”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1277295" cy="192024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" cy="1920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7744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 = { (x</a:t>
            </a:r>
            <a:pPr algn="ctr" indent="0" marL="0">
              <a:buNone/>
            </a:pPr>
            <a:r>
              <a:rPr lang="en-US" sz="3000" b="1" baseline="-40000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1</a:t>
            </a:r>
            <a:pPr algn="ctr"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, y</a:t>
            </a:r>
            <a:pPr algn="ctr" indent="0" marL="0">
              <a:buNone/>
            </a:pPr>
            <a:r>
              <a:rPr lang="en-US" sz="3000" b="1" baseline="-40000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1</a:t>
            </a:r>
            <a:pPr algn="ctr"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), (x</a:t>
            </a:r>
            <a:pPr algn="ctr" indent="0" marL="0">
              <a:buNone/>
            </a:pPr>
            <a:r>
              <a:rPr lang="en-US" sz="3000" b="1" baseline="-40000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</a:t>
            </a:r>
            <a:pPr algn="ctr"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, y</a:t>
            </a:r>
            <a:pPr algn="ctr" indent="0" marL="0">
              <a:buNone/>
            </a:pPr>
            <a:r>
              <a:rPr lang="en-US" sz="3000" b="1" baseline="-40000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</a:t>
            </a:r>
            <a:pPr algn="ctr"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), …, (x</a:t>
            </a:r>
            <a:pPr algn="ctr" indent="0" marL="0">
              <a:buNone/>
            </a:pPr>
            <a:r>
              <a:rPr lang="en-US" sz="3000" b="1" baseline="-40000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n</a:t>
            </a:r>
            <a:pPr algn="ctr"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, y</a:t>
            </a:r>
            <a:pPr algn="ctr" indent="0" marL="0">
              <a:buNone/>
            </a:pPr>
            <a:r>
              <a:rPr lang="en-US" sz="3000" b="1" baseline="-40000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n</a:t>
            </a:r>
            <a:pPr algn="ctr"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) }       ŷ = f</a:t>
            </a:r>
            <a:pPr algn="ctr" indent="0" marL="0">
              <a:buNone/>
            </a:pPr>
            <a:r>
              <a:rPr lang="en-US" sz="3000" b="1" baseline="-40000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θ</a:t>
            </a:r>
            <a:pPr algn="ctr"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 (x)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40080" y="333756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 dataset of examples — and a model with adjustable parameters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4434840"/>
            <a:ext cx="2613584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526280"/>
            <a:ext cx="2430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594360" y="5212080"/>
            <a:ext cx="2339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— what the model sees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45104" y="4434840"/>
            <a:ext cx="2613584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36544" y="4526280"/>
            <a:ext cx="2430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3482264" y="5212080"/>
            <a:ext cx="2339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— the desired output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33008" y="4434840"/>
            <a:ext cx="2613584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24448" y="4526280"/>
            <a:ext cx="2430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θ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370168" y="5212080"/>
            <a:ext cx="2339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adjustable part of the model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120911" y="4434840"/>
            <a:ext cx="2613584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12351" y="4526280"/>
            <a:ext cx="2430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ŷ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9258071" y="5212080"/>
            <a:ext cx="2339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model’s prediction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08076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Chapter 1 is not about manipulating formulas. It is about deciding what these symbols refer to.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 ·  FRAMING LEARNING PROBLEMS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Prediction is not the decision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score can support several different policies.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 y = 1 | x )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 probability — the model’s estimated chance that an email is spam.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520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⇣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57200" y="3931920"/>
            <a:ext cx="502920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931920"/>
            <a:ext cx="41148" cy="5486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9319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normally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572000"/>
            <a:ext cx="5029200" cy="5486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4572000"/>
            <a:ext cx="41148" cy="5486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5720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with warning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5212080"/>
            <a:ext cx="5029200" cy="548640"/>
          </a:xfrm>
          <a:prstGeom prst="rect">
            <a:avLst/>
          </a:prstGeom>
          <a:solidFill>
            <a:srgbClr val="FFEBEE"/>
          </a:solidFill>
          <a:ln w="12700">
            <a:solidFill>
              <a:srgbClr val="FFEB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5212080"/>
            <a:ext cx="41148" cy="54864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52120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to spam folder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943600" y="2103120"/>
            <a:ext cx="5760720" cy="3931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22860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LESSON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17920" y="269748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 score is a guess.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 decision is a policy.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6217920" y="4297680"/>
            <a:ext cx="137160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4480560"/>
            <a:ext cx="5303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student support, the same risk score might trigger an adviser review, a tutoring invitation, or no action — different policies on the same prediction.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 ·  FRAMING LEARNING PROBLEMS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Thresholds turn a score into a decision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model, three policies, two human-chosen cutoffs.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2743200"/>
            <a:ext cx="4133088" cy="640080"/>
          </a:xfrm>
          <a:prstGeom prst="rect">
            <a:avLst/>
          </a:prstGeom>
          <a:solidFill>
            <a:srgbClr val="D2EEDC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47488" y="2743200"/>
            <a:ext cx="4649724" cy="640080"/>
          </a:xfrm>
          <a:prstGeom prst="rect">
            <a:avLst/>
          </a:prstGeom>
          <a:solidFill>
            <a:srgbClr val="FEF2D6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97212" y="2743200"/>
            <a:ext cx="1549908" cy="640080"/>
          </a:xfrm>
          <a:prstGeom prst="rect">
            <a:avLst/>
          </a:prstGeom>
          <a:solidFill>
            <a:srgbClr val="FED8D8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743200"/>
            <a:ext cx="4133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normally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47488" y="2743200"/>
            <a:ext cx="46497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with warning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97212" y="2743200"/>
            <a:ext cx="15499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quarantine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3429000"/>
            <a:ext cx="10332720" cy="0"/>
          </a:xfrm>
          <a:prstGeom prst="line">
            <a:avLst/>
          </a:prstGeom>
          <a:noFill/>
          <a:ln w="12700">
            <a:solidFill>
              <a:srgbClr val="1F29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429000"/>
            <a:ext cx="0" cy="109728"/>
          </a:xfrm>
          <a:prstGeom prst="line">
            <a:avLst/>
          </a:prstGeom>
          <a:noFill/>
          <a:ln w="9525">
            <a:solidFill>
              <a:srgbClr val="1F29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566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980944" y="3429000"/>
            <a:ext cx="0" cy="109728"/>
          </a:xfrm>
          <a:prstGeom prst="line">
            <a:avLst/>
          </a:prstGeom>
          <a:noFill/>
          <a:ln w="9525">
            <a:solidFill>
              <a:srgbClr val="1F29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52344" y="3566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47488" y="3429000"/>
            <a:ext cx="0" cy="109728"/>
          </a:xfrm>
          <a:prstGeom prst="line">
            <a:avLst/>
          </a:prstGeom>
          <a:noFill/>
          <a:ln w="9525">
            <a:solidFill>
              <a:srgbClr val="1F29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18888" y="3566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114032" y="3429000"/>
            <a:ext cx="0" cy="109728"/>
          </a:xfrm>
          <a:prstGeom prst="line">
            <a:avLst/>
          </a:prstGeom>
          <a:noFill/>
          <a:ln w="9525">
            <a:solidFill>
              <a:srgbClr val="1F29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85432" y="3566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180576" y="3429000"/>
            <a:ext cx="0" cy="109728"/>
          </a:xfrm>
          <a:prstGeom prst="line">
            <a:avLst/>
          </a:prstGeom>
          <a:noFill/>
          <a:ln w="9525">
            <a:solidFill>
              <a:srgbClr val="1F29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51976" y="3566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1247120" y="3429000"/>
            <a:ext cx="0" cy="109728"/>
          </a:xfrm>
          <a:prstGeom prst="line">
            <a:avLst/>
          </a:prstGeom>
          <a:noFill/>
          <a:ln w="9525">
            <a:solidFill>
              <a:srgbClr val="1F29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018520" y="3566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4400" y="388620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Predicted spam probability  P(y=1 | x)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047488" y="2331720"/>
            <a:ext cx="0" cy="1051560"/>
          </a:xfrm>
          <a:prstGeom prst="line">
            <a:avLst/>
          </a:prstGeom>
          <a:noFill/>
          <a:ln w="15240">
            <a:solidFill>
              <a:srgbClr val="0D1B2A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4133088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 = 0.40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697212" y="2331720"/>
            <a:ext cx="0" cy="1051560"/>
          </a:xfrm>
          <a:prstGeom prst="line">
            <a:avLst/>
          </a:prstGeom>
          <a:noFill/>
          <a:ln w="15240">
            <a:solidFill>
              <a:srgbClr val="0D1B2A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8782812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quarantine = 0.85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664562" y="3273552"/>
            <a:ext cx="219456" cy="219456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08530" y="4251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0.18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210958" y="3273552"/>
            <a:ext cx="219456" cy="219456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54926" y="4251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0.62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0827410" y="3273552"/>
            <a:ext cx="219456" cy="219456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571378" y="4251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0.97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5212080"/>
            <a:ext cx="11277295" cy="9144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5212080"/>
            <a:ext cx="54864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" y="5212080"/>
            <a:ext cx="11048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Move the threshold and the policy changes — without retraining the model.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85800" y="5623560"/>
            <a:ext cx="11048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is preserved under any strictly increasing transformation of the score; numerical meaning (calibration) is not.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 ·  FRAMING LEARNING PROBLEMS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Two kinds of mistakes — and they don’t cost the same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matter because they remind you to ask: which mistake hurts more?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486400" cy="365760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00" cy="5486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1945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92608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 legitimate email is treated as spam.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37490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HURTS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406908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may miss bills, job offers, travel updates, or personal messages — invisible costs that erode trust.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48095" y="2194560"/>
            <a:ext cx="5486400" cy="3657600"/>
          </a:xfrm>
          <a:prstGeom prst="rect">
            <a:avLst/>
          </a:prstGeom>
          <a:solidFill>
            <a:srgbClr val="FFEBE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48095" y="2194560"/>
            <a:ext cx="5486400" cy="54864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30975" y="21945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30975" y="292608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Spam reaches the inbox.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30975" y="37490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HURTS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30975" y="406908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faces annoyance, wasted attention, fraud attempts, or malware risk — the very harm the system was meant to prevent.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03504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Prediction quality depends on the consequences of mistakes, not only on whether the model errs in the abstract.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 ·  FRAMING LEARNING PROBLEMS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 learning problem does not end at the model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world to data to prediction to decision — and back again.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18008" y="246888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0077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3728" y="25146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Real-world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process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419960" y="2971800"/>
            <a:ext cx="356616" cy="0"/>
          </a:xfrm>
          <a:prstGeom prst="line">
            <a:avLst/>
          </a:prstGeom>
          <a:noFill/>
          <a:ln w="2794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849728" y="246888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0077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95448" y="25146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Collected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data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1680" y="2971800"/>
            <a:ext cx="356616" cy="0"/>
          </a:xfrm>
          <a:prstGeom prst="line">
            <a:avLst/>
          </a:prstGeom>
          <a:noFill/>
          <a:ln w="2794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181448" y="246888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0077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27168" y="25146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Chosen model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baseline="-40000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θ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083400" y="2971800"/>
            <a:ext cx="356616" cy="0"/>
          </a:xfrm>
          <a:prstGeom prst="line">
            <a:avLst/>
          </a:prstGeom>
          <a:noFill/>
          <a:ln w="2794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513168" y="246888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0077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58888" y="25146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Prediction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ŷ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415120" y="2971800"/>
            <a:ext cx="356616" cy="0"/>
          </a:xfrm>
          <a:prstGeom prst="line">
            <a:avLst/>
          </a:prstGeom>
          <a:noFill/>
          <a:ln w="2794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844888" y="246888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0077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90608" y="25146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Decision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rule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181448" y="425196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E8F4FD"/>
          </a:solidFill>
          <a:ln w="19050">
            <a:solidFill>
              <a:srgbClr val="0077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27168" y="42976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Observed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outcome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0759288" y="3474720"/>
            <a:ext cx="0" cy="388620"/>
          </a:xfrm>
          <a:prstGeom prst="line">
            <a:avLst/>
          </a:prstGeom>
          <a:noFill/>
          <a:ln w="22860">
            <a:solidFill>
              <a:srgbClr val="00B4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55968" y="3863340"/>
            <a:ext cx="3703320" cy="0"/>
          </a:xfrm>
          <a:prstGeom prst="line">
            <a:avLst/>
          </a:prstGeom>
          <a:noFill/>
          <a:ln w="22860">
            <a:solidFill>
              <a:srgbClr val="00B4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55968" y="3863340"/>
            <a:ext cx="0" cy="388620"/>
          </a:xfrm>
          <a:prstGeom prst="line">
            <a:avLst/>
          </a:prstGeom>
          <a:noFill/>
          <a:ln w="2286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7147408" y="35433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drives outcome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181448" y="3863340"/>
            <a:ext cx="-1417320" cy="0"/>
          </a:xfrm>
          <a:prstGeom prst="line">
            <a:avLst/>
          </a:prstGeom>
          <a:noFill/>
          <a:ln w="22860">
            <a:solidFill>
              <a:srgbClr val="0077B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81448" y="3863340"/>
            <a:ext cx="0" cy="388620"/>
          </a:xfrm>
          <a:prstGeom prst="line">
            <a:avLst/>
          </a:prstGeom>
          <a:noFill/>
          <a:ln w="22860">
            <a:solidFill>
              <a:srgbClr val="0077B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64128" y="3474720"/>
            <a:ext cx="0" cy="388620"/>
          </a:xfrm>
          <a:prstGeom prst="line">
            <a:avLst/>
          </a:prstGeom>
          <a:noFill/>
          <a:ln w="22860">
            <a:solidFill>
              <a:srgbClr val="0077B6"/>
            </a:solidFill>
            <a:prstDash val="solid"/>
            <a:headEnd type="triangle"/>
          </a:ln>
        </p:spPr>
      </p:sp>
      <p:sp>
        <p:nvSpPr>
          <p:cNvPr id="31" name="Text 29"/>
          <p:cNvSpPr/>
          <p:nvPr/>
        </p:nvSpPr>
        <p:spPr>
          <a:xfrm>
            <a:off x="1935328" y="35433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data feeds back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58521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 score without a downstream action is incomplete.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An action without a stated cost of mistakes is hard to defend.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 ·  FRAMING LEARNING PROBLEMS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Objective hierarchy — keep four levels separate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drift when goal, proxy, label, and metric collapse into one sentence.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2613584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2613584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194560"/>
            <a:ext cx="22478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3108960"/>
            <a:ext cx="2156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What real-world outcome matters?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3886200"/>
            <a:ext cx="914400" cy="0"/>
          </a:xfrm>
          <a:prstGeom prst="line">
            <a:avLst/>
          </a:prstGeom>
          <a:noFill/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977640"/>
            <a:ext cx="215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Student-support example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4297680"/>
            <a:ext cx="21563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students receive timely human support.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345104" y="2194560"/>
            <a:ext cx="2613584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45104" y="2194560"/>
            <a:ext cx="2613584" cy="731520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7984" y="2194560"/>
            <a:ext cx="22478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573704" y="3108960"/>
            <a:ext cx="2156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What narrower task stands in?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573704" y="3886200"/>
            <a:ext cx="914400" cy="0"/>
          </a:xfrm>
          <a:prstGeom prst="line">
            <a:avLst/>
          </a:prstGeom>
          <a:noFill/>
          <a:ln w="12700">
            <a:solidFill>
              <a:srgbClr val="023E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73704" y="3977640"/>
            <a:ext cx="215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Student-support example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573704" y="4297680"/>
            <a:ext cx="21563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risk of missing the first two deadlines.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33008" y="2194560"/>
            <a:ext cx="2613584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33008" y="2194560"/>
            <a:ext cx="2613584" cy="7315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5888" y="2194560"/>
            <a:ext cx="22478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61608" y="3108960"/>
            <a:ext cx="2156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How is the target observed?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61608" y="3886200"/>
            <a:ext cx="914400" cy="0"/>
          </a:xfrm>
          <a:prstGeom prst="line">
            <a:avLst/>
          </a:prstGeom>
          <a:noFill/>
          <a:ln w="12700">
            <a:solidFill>
              <a:srgbClr val="0077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61608" y="3977640"/>
            <a:ext cx="215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Student-support example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61608" y="4297680"/>
            <a:ext cx="21563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student miss a deadline by the review cutoff?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120911" y="2194560"/>
            <a:ext cx="2613584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120911" y="2194560"/>
            <a:ext cx="2613584" cy="731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03791" y="2194560"/>
            <a:ext cx="22478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349511" y="3108960"/>
            <a:ext cx="2156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What number reports success?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349511" y="3886200"/>
            <a:ext cx="91440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49511" y="3977640"/>
            <a:ext cx="215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Student-support example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349511" y="4297680"/>
            <a:ext cx="21563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under a fixed advising-review budget.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57200" y="59893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If two of these sentences sound identical, the problem is probably still underframed.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 ·  FRAMING LEARNING PROBLEMS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Five Commitments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in order — each one makes the next more concrete.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594360" cy="59436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94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17320" y="21488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297680" y="214884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What exactly is the system supposed to predict, estimate, rank, or decide?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2953512"/>
            <a:ext cx="594360" cy="59436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9535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17320" y="290779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297680" y="2907792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What evidence will stand in for the world?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3712464"/>
            <a:ext cx="594360" cy="59436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71246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17320" y="3666744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297680" y="3666744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What form of the input will the model actually see?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" y="4471416"/>
            <a:ext cx="594360" cy="59436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47141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417320" y="4425696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297680" y="4425696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What behavior is rewarded during training?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0080" y="5230368"/>
            <a:ext cx="594360" cy="59436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2303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417320" y="518464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297680" y="5184648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What later claim will count as success?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57200" y="5943600"/>
            <a:ext cx="11277295" cy="4114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594360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protocol for Chapter 1 — the workshop view of the book’s broader seven-question framework.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 ·  FRAMING LEARNING PROBLEMS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five commitments — three running cases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protocol; very different problems.</a:t>
            </a:r>
            <a:endParaRPr lang="en-US" sz="1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1127729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3108960"/>
                <a:gridCol w="301752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Support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Spam Filtering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Wildlife Counting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Task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of missing the first two deadlines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Probability an email is spam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Animal count from an aerial image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Data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Quizzes, attendance, platform logs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Labeled email text + metadata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Images paired with local count targets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Representation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Early-course features per student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Words, links, sender cues, headers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Pixels, local patches, count cues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Objective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Raise scores on at-risk students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 spam from wanted mail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Minimize density-map error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Evaluation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Useful surfacing without unfair alarms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Inboxes protected, wanted mail kept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on hidden test counts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59893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If you cannot fill out this table cleanly, the problem is not ready for model choice.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 ·  FRAMING LEARNING PROBLEMS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Proxy audit — repair vague openings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 reusable habit of this chapter.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4572000" cy="118872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03120"/>
            <a:ext cx="41148" cy="11887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1945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OPENING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246888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“Use AI to support students”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212080" y="2697480"/>
            <a:ext cx="640080" cy="0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035040" y="2103120"/>
            <a:ext cx="5699455" cy="118872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2103120"/>
            <a:ext cx="41148" cy="11887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2194560"/>
            <a:ext cx="5333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FRAMED LEARNING PROBLEM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17920" y="2468880"/>
            <a:ext cx="53336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which students are likely to miss the first two deadlines, early enough to trigger human support.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383280"/>
            <a:ext cx="4572000" cy="118872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383280"/>
            <a:ext cx="41148" cy="11887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4747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OPENING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" y="374904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“Detect bad content”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212080" y="3977640"/>
            <a:ext cx="640080" cy="0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035040" y="3383280"/>
            <a:ext cx="5699455" cy="118872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35040" y="3383280"/>
            <a:ext cx="41148" cy="11887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3474720"/>
            <a:ext cx="5333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FRAMED LEARNING PROBLEM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17920" y="3749040"/>
            <a:ext cx="53336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the probability a comment should be queued for moderator review under a documented policy.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4663440"/>
            <a:ext cx="4572000" cy="118872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4663440"/>
            <a:ext cx="41148" cy="11887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7548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OPENING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0080" y="502920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“Find fake news”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212080" y="5257800"/>
            <a:ext cx="640080" cy="0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035040" y="4663440"/>
            <a:ext cx="5699455" cy="118872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35040" y="4663440"/>
            <a:ext cx="41148" cy="11887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4754880"/>
            <a:ext cx="5333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FRAMED LEARNING PROBLEM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17920" y="5029200"/>
            <a:ext cx="53336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whether an article is likely to violate a specific fact-checking standard — with human review before public action.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7200" y="585216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What changes is the problem statement — the model has not improved yet.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 ·  FRAMING LEARNING PROBLEMS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Proxy stress test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questions to ask before training.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2072579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286000"/>
            <a:ext cx="2072579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60320"/>
            <a:ext cx="207257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B4D8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✓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548640" y="3383280"/>
            <a:ext cx="188969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4069080"/>
            <a:ext cx="179825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actually observe the proxy in your data?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58379" y="2286000"/>
            <a:ext cx="2072579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58379" y="2286000"/>
            <a:ext cx="2072579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58379" y="2560320"/>
            <a:ext cx="207257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B4D8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✓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2849819" y="3383280"/>
            <a:ext cx="188969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895539" y="4069080"/>
            <a:ext cx="179825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appear soon enough to act on?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59558" y="2286000"/>
            <a:ext cx="2072579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59558" y="2286000"/>
            <a:ext cx="2072579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59558" y="2560320"/>
            <a:ext cx="207257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B4D8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✓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5150998" y="3383280"/>
            <a:ext cx="188969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AT PREDICTION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96718" y="4069080"/>
            <a:ext cx="179825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inputs known before the decision moment?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60737" y="2286000"/>
            <a:ext cx="2072579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60737" y="2286000"/>
            <a:ext cx="2072579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60737" y="2560320"/>
            <a:ext cx="207257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B4D8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✓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7452177" y="3383280"/>
            <a:ext cx="188969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ACTION-RELEVANT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97897" y="4069080"/>
            <a:ext cx="179825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match the downstream decision you actually make?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661916" y="2286000"/>
            <a:ext cx="2072579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61916" y="2286000"/>
            <a:ext cx="2072579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61916" y="2560320"/>
            <a:ext cx="207257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B4D8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✓</a:t>
            </a:r>
            <a:endParaRPr lang="en-US" sz="3800" dirty="0"/>
          </a:p>
        </p:txBody>
      </p:sp>
      <p:sp>
        <p:nvSpPr>
          <p:cNvPr id="31" name="Text 29"/>
          <p:cNvSpPr/>
          <p:nvPr/>
        </p:nvSpPr>
        <p:spPr>
          <a:xfrm>
            <a:off x="9753356" y="3383280"/>
            <a:ext cx="188969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GAME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799076" y="4069080"/>
            <a:ext cx="179825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users distort behavior to look better on it?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5852160"/>
            <a:ext cx="11277295" cy="64008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5852160"/>
            <a:ext cx="41148" cy="6400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5852160"/>
            <a:ext cx="11048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If any answer is no — revise the proxy before training.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 ·  FRAMING LEARNING PROBLEMS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Data is evidence — not truth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dataset is a measurement process applied to the world.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515258" cy="36576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" cy="36576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42316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926080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Who or what is missing?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1520" y="3611880"/>
            <a:ext cx="9144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794760"/>
            <a:ext cx="30580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data covers only some users or conditions, the model may generalize poorly elsewhere.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338218" y="2194560"/>
            <a:ext cx="3515258" cy="36576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38218" y="2194560"/>
            <a:ext cx="54864" cy="36576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2538" y="242316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12538" y="2926080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How were labels produced?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612538" y="3611880"/>
            <a:ext cx="9144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2538" y="3794760"/>
            <a:ext cx="30580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Noisy, inconsistent, or proxy-based labels mean the model learns the proxy — not the intended target.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219237" y="2194560"/>
            <a:ext cx="3515258" cy="36576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19237" y="2194560"/>
            <a:ext cx="54864" cy="36576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93557" y="242316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493557" y="2926080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When was the data collected?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493557" y="3611880"/>
            <a:ext cx="9144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93557" y="3794760"/>
            <a:ext cx="30580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from one year or one market may not represent the next. The world drifts under your model.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603504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Treat a dataset as evidence rather than truth — strong or weak, representative or narrow, stable or outdated.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 ·  FRAMING LEARNING PROBLEMS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Three real-world warnings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“the data speaks for itself” actually means.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77295" cy="128016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03120"/>
            <a:ext cx="54864" cy="12801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▲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43000" y="219456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Recommendation logs reflect exposure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143000" y="2606040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platforms see clicks only for items shown. A missing interaction may mean non-exposure, not dislike — selection and exposure bias entangle the data with the ranker that produced it.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448495" y="3063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AutoDebias, 2021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11277295" cy="128016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474720"/>
            <a:ext cx="54864" cy="12801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▲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43000" y="356616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Toxicity labels are social measurements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43000" y="3977640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Annotator identities and beliefs systematically affect toxicity judgments. Disagreement is not always noise — sometimes it reflects real differences in how harm is interpreted.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448495" y="4434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et al., 2022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846320"/>
            <a:ext cx="11277295" cy="128016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846320"/>
            <a:ext cx="54864" cy="12801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983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▲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143000" y="493776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Label leakage hides in plain sight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143000" y="5349240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student-risk model that uses a support flag created after the first missed deadline is leaking a later process back into the model. The feature is predictive — but not available at prediction time.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448495" y="5806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failure box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24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 ·  FRAMING LEARNING PROBLEMS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Data-centric ML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the evidence — not only the model.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4754880" cy="3840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3774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ITERATION LOOP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28346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Before replacing the model, ask whether the problem is: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3520440"/>
            <a:ext cx="4023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definition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 consistency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577840" y="2194560"/>
            <a:ext cx="6156655" cy="182880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77840" y="2194560"/>
            <a:ext cx="41148" cy="1828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0" y="2286000"/>
            <a:ext cx="5790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DATASET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60720" y="2697480"/>
            <a:ext cx="57908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Datasheets ask: motivation, composition, collection, recommended uses.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can’t answer these, later quality claims are hard to interpret.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577840" y="4206240"/>
            <a:ext cx="6156655" cy="182880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77840" y="4206240"/>
            <a:ext cx="41148" cy="18288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4297680"/>
            <a:ext cx="5790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 DATA CASCADES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760720" y="4709160"/>
            <a:ext cx="57908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 weakness in collection, labeling, or coordination reappears later as model failure, monitoring surprises, or unsafe deployment.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1722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 stronger architecture does not repair a weak dataset — it may simply fit its accidental structure more efficiently.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24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 ·  FRAMING LEARNING PROBLEMS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Evaluation preview — visible vs. hidden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evidence must stay protected, or the final claim means nothing.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0" y="219456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2194560"/>
            <a:ext cx="0" cy="3291840"/>
          </a:xfrm>
          <a:prstGeom prst="line">
            <a:avLst/>
          </a:prstGeom>
          <a:noFill/>
          <a:ln w="19050">
            <a:solidFill>
              <a:srgbClr val="CBD5E0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640080" y="2743200"/>
            <a:ext cx="3657600" cy="1188720"/>
          </a:xfrm>
          <a:prstGeom prst="roundRect">
            <a:avLst>
              <a:gd name="adj" fmla="val 7692"/>
            </a:avLst>
          </a:prstGeom>
          <a:solidFill>
            <a:srgbClr val="DCE9FB"/>
          </a:solidFill>
          <a:ln w="15240">
            <a:solidFill>
              <a:srgbClr val="0077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7432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Visible training set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images + labels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937760" y="2743200"/>
            <a:ext cx="3200400" cy="1188720"/>
          </a:xfrm>
          <a:prstGeom prst="roundRect">
            <a:avLst>
              <a:gd name="adj" fmla="val 7692"/>
            </a:avLst>
          </a:prstGeom>
          <a:solidFill>
            <a:srgbClr val="E4E4E4"/>
          </a:solidFill>
          <a:ln w="15240">
            <a:solidFill>
              <a:srgbClr val="4755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74320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Hidden evaluation set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labels not shown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321040" y="2743200"/>
            <a:ext cx="3383280" cy="1188720"/>
          </a:xfrm>
          <a:prstGeom prst="roundRect">
            <a:avLst>
              <a:gd name="adj" fmla="val 7692"/>
            </a:avLst>
          </a:prstGeom>
          <a:solidFill>
            <a:srgbClr val="E4E4E4"/>
          </a:solidFill>
          <a:ln w="15240">
            <a:solidFill>
              <a:srgbClr val="4755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274320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Final hidden test set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revealed only once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572000"/>
            <a:ext cx="3657600" cy="1188720"/>
          </a:xfrm>
          <a:prstGeom prst="roundRect">
            <a:avLst>
              <a:gd name="adj" fmla="val 7692"/>
            </a:avLst>
          </a:prstGeom>
          <a:solidFill>
            <a:srgbClr val="EDE0FA"/>
          </a:solidFill>
          <a:ln w="15240">
            <a:solidFill>
              <a:srgbClr val="6A1B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5720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Model development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on visible data only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468880" y="3931920"/>
            <a:ext cx="0" cy="64008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2651760" y="4069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97680" y="5166360"/>
            <a:ext cx="224028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37960" y="3931920"/>
            <a:ext cx="0" cy="123444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5303520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97680" y="5440680"/>
            <a:ext cx="571500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12680" y="3931920"/>
            <a:ext cx="0" cy="150876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8595360" y="5120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test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608076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Protect some evidence so the final claim is judged on data that development did not already see.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24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 ·  FRAMING LEARNING PROBLEMS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 bad memo, rewritten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repaired field should force a later design choice — not just sound more polished.</a:t>
            </a:r>
            <a:endParaRPr lang="en-US" sz="15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1127729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840480"/>
                <a:gridCol w="50292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 field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memo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Defensible memo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Decision &amp; user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“Use AI to predict failure”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adviser decides whether to invite a student to a check-in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Proxy target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“Course failure” — no time window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of missing the first two major deadlines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Acceptable inputs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“All available student data”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quizzes, attendance, course-platform activity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Most costly mistake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Failing to flag a student who needed timely help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Evaluation preview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“High accuracy”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Useful surfacing without unfair or noisy alerts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Downstream action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“Intervene”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Outreach, tutoring, office-hour invitations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608076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repair is not to make the memo longer. It is to make each field operational.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24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 ·  FRAMING LEARNING PROBLEMS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Framing is iterative — not one-shot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the first memo as version 1, not as final truth.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576218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3576218" cy="5486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194560"/>
            <a:ext cx="3210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too coarse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880360"/>
            <a:ext cx="3210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EVIDENCE SHOWED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154680"/>
            <a:ext cx="32104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flagged students recover without intervention.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297680"/>
            <a:ext cx="91440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434840"/>
            <a:ext cx="3210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FRAMING CHANGES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4709160"/>
            <a:ext cx="32104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toward repeated non-submission, or combine with adviser notes.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07738" y="2194560"/>
            <a:ext cx="3576218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07738" y="2194560"/>
            <a:ext cx="3576218" cy="5486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90618" y="2194560"/>
            <a:ext cx="3210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signal for some formats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90618" y="2880360"/>
            <a:ext cx="3210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EVIDENCE SHOWED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490618" y="3154680"/>
            <a:ext cx="32104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subgroup is under-flagged because platform activity is sparse.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490618" y="4297680"/>
            <a:ext cx="91440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90618" y="4434840"/>
            <a:ext cx="3210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FRAMING CHANGES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490618" y="4709160"/>
            <a:ext cx="32104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course-format awareness, or restrict the claim to settings where inputs are meaningful.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158277" y="2194560"/>
            <a:ext cx="3576218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58277" y="2194560"/>
            <a:ext cx="3576218" cy="5486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41157" y="2194560"/>
            <a:ext cx="3210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overloads the queue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341157" y="2880360"/>
            <a:ext cx="3210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EVIDENCE SHOWED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41157" y="3154680"/>
            <a:ext cx="32104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more students flagged than the advising team can contact.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341157" y="4297680"/>
            <a:ext cx="91440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41157" y="4434840"/>
            <a:ext cx="3210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FRAMING CHANGES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341157" y="4709160"/>
            <a:ext cx="32104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policy around fixed review capacity or ranking under budget.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57200" y="5897880"/>
            <a:ext cx="11277295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5897880"/>
            <a:ext cx="41148" cy="5486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5897880"/>
            <a:ext cx="11048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When experiments reveal mismatch between proxy, data, action, and capacity — revise the memo before escalating model complexity.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24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 ·  FRAMING LEARNING PROBLEMS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Learning settings — kinds of feedback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 mainly in what signal the world provides.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2613584" cy="320040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286000"/>
            <a:ext cx="2613584" cy="7315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560320"/>
            <a:ext cx="224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3108960"/>
            <a:ext cx="2339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explicit labels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306792" y="3703320"/>
            <a:ext cx="914400" cy="0"/>
          </a:xfrm>
          <a:prstGeom prst="line">
            <a:avLst/>
          </a:prstGeom>
          <a:noFill/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840480"/>
            <a:ext cx="233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4160520"/>
            <a:ext cx="23392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student-risk prediction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345104" y="2286000"/>
            <a:ext cx="2613584" cy="320040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45104" y="2286000"/>
            <a:ext cx="2613584" cy="7315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7984" y="2560320"/>
            <a:ext cx="224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82264" y="3108960"/>
            <a:ext cx="2339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no labels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194696" y="3703320"/>
            <a:ext cx="914400" cy="0"/>
          </a:xfrm>
          <a:prstGeom prst="line">
            <a:avLst/>
          </a:prstGeom>
          <a:noFill/>
          <a:ln w="12700">
            <a:solidFill>
              <a:srgbClr val="E651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82264" y="3840480"/>
            <a:ext cx="233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82264" y="4160520"/>
            <a:ext cx="23392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student-behavior clustering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33008" y="2286000"/>
            <a:ext cx="2613584" cy="320040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33008" y="2286000"/>
            <a:ext cx="2613584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5888" y="2560320"/>
            <a:ext cx="224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SELF-SUPERVISED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70168" y="3108960"/>
            <a:ext cx="2339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targets from the data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082600" y="3703320"/>
            <a:ext cx="914400" cy="0"/>
          </a:xfrm>
          <a:prstGeom prst="line">
            <a:avLst/>
          </a:prstGeom>
          <a:noFill/>
          <a:ln w="12700">
            <a:solidFill>
              <a:srgbClr val="1565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70168" y="3840480"/>
            <a:ext cx="233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70168" y="4160520"/>
            <a:ext cx="23392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fill-in the missing word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120911" y="2286000"/>
            <a:ext cx="2613584" cy="3200400"/>
          </a:xfrm>
          <a:prstGeom prst="rect">
            <a:avLst/>
          </a:prstGeom>
          <a:solidFill>
            <a:srgbClr val="EDE0FA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120911" y="2286000"/>
            <a:ext cx="2613584" cy="7315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03791" y="2560320"/>
            <a:ext cx="224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258071" y="3108960"/>
            <a:ext cx="2339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rewards on actions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970503" y="3703320"/>
            <a:ext cx="914400" cy="0"/>
          </a:xfrm>
          <a:prstGeom prst="line">
            <a:avLst/>
          </a:prstGeom>
          <a:noFill/>
          <a:ln w="12700">
            <a:solidFill>
              <a:srgbClr val="6A1B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58071" y="3840480"/>
            <a:ext cx="233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258071" y="4160520"/>
            <a:ext cx="23392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tutoring policies over time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57200" y="585216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kind of feedback available constrains what the system can honestly learn.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24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— IN ONE BREATH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123444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first task in machine learning is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not model selection but problem specification.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14400" y="2880360"/>
            <a:ext cx="32004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154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TAKEAWAYS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352044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prediction from decision.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goal, proxy, label, metric apart.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Five Commitments before code.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data as evidence, not truth.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some evidence for the final claim.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0" y="3154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NEXT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0" y="352044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2 — Prediction, loss, and decision rules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3 — Evaluation discipline &amp; protected splits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4 — Dataset design and baselines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4983480"/>
            <a:ext cx="1097280" cy="0"/>
          </a:xfrm>
          <a:prstGeom prst="line">
            <a:avLst/>
          </a:prstGeom>
          <a:noFill/>
          <a:ln w="1016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5120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54406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one-page framing memo for student support, spam filtering, or a problem from your own field.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82009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by Design — Chapter 1: Framing Learning Problems</dc:title>
  <dc:subject>PptxGenJS Presentation</dc:subject>
  <dc:creator>Sam Urmian</dc:creator>
  <cp:lastModifiedBy>Sam Urmian</cp:lastModifiedBy>
  <cp:revision>1</cp:revision>
  <dcterms:created xsi:type="dcterms:W3CDTF">2026-05-16T19:22:26Z</dcterms:created>
  <dcterms:modified xsi:type="dcterms:W3CDTF">2026-05-16T19:22:26Z</dcterms:modified>
</cp:coreProperties>
</file>