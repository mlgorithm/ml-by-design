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25880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BY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6a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Generative Representations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Learning to SAMPLE — not just to classify.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486400"/>
            <a:ext cx="3657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 Urmian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50-minute introductory lecture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6A  ·  GENERATIVE REPRESENTATIONS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200-vs-18,000 problem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triage model collapses to “always routine.”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0292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IMBALANCE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URGENT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18 000 ROUTINE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371600" y="4983480"/>
            <a:ext cx="3200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5120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Recall on URGENT  =  0.27.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model learned to always predict ROUTINE.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52160" y="2194560"/>
            <a:ext cx="5882335" cy="11887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2194560"/>
            <a:ext cx="54864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3774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75120" y="2286000"/>
            <a:ext cx="5013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LABEL MORE URGENTS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0" y="2743200"/>
            <a:ext cx="5013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· slow.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520440"/>
            <a:ext cx="5882335" cy="11887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3520440"/>
            <a:ext cx="54864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37033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675120" y="3611880"/>
            <a:ext cx="5013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OVERSAMPLE THE 200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75120" y="4069080"/>
            <a:ext cx="5013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memorizes the rare class.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52160" y="4846320"/>
            <a:ext cx="5882335" cy="11887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0" y="4846320"/>
            <a:ext cx="54864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50292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675120" y="4937760"/>
            <a:ext cx="5013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GENERATE SYNTHETIC URGENTS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75120" y="5394960"/>
            <a:ext cx="5013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· fast · possibly worthless.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Does synthetic data add INFORMATION — or is it elaborate memorization?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6A  ·  GENERATIVE REPRESENTATIONS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Today — three families, one design question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know if generated data is any good?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Representation → generation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plain autoencoder can't generate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0618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90618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VAEs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490618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latent spaces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8277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1157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41157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GANs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41157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sharpness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0080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Diffusion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denoising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07738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7738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0618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490618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Audit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490618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evaluate generators · the audit card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6A  ·  GENERATIVE REPRESENTATIONS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Why a plain autoencoder cannot generate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latent points decode to noise.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38328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Bottleneck preserves structure for RECONSTRUCTION.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But the latent space is UNSTRUCTURED — most random points decode to noise.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486400" cy="338328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92608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Imposes STRUCTURE on the latent space.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Sampling from a known distribution decodes to something meaningful.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Three families differ in HOW they impose that structure — VAE · GAN · diffusion.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6A  ·  GENERATIVE REPRESENTATIONS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VAE — distributions, not points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outputs μ and σ — KL pulls toward a shared prior.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Encoder maps  x  →  N( μ(x) ,  diag(σ²(x)) ).  KL pulls each q(z|x) toward a shared prior N(0, I).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5486400" cy="27432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37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37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KL DOES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0690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Prevents the encoder from scattering training examples into isolated, disconnected pockets.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3337560"/>
            <a:ext cx="5486400" cy="27432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3337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337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40690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Nearby latent points decode to SIMILAR outputs.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Interpolation is SMOOTH.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Sampling from the prior generates new examples.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26364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training — sample z from the prior, decode, get a new example.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6A  ·  GENERATIVE REPRESENTATIONS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VAE objective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+ KL regularization.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L_VAE  =  E_q [ −log p(x | z) ]   +   D_KL( q(z|x)  ‖  p(z) 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5486400" cy="219456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840480"/>
            <a:ext cx="54864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TERM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4348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MSE or cross-entropy on the decoded output.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Pulls toward fidelity.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3840480"/>
            <a:ext cx="5486400" cy="219456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384048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TERM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44348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 form for diagonal Gaussian: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½ Σ (μ²  +  σ²  −  log σ²  −  1)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Pulls toward the prior.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172200"/>
            <a:ext cx="41148" cy="3200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6172200"/>
            <a:ext cx="11048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β-VAE knob — large β → more structure, blurrier output. Small β → sharper, less organized.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6A  ·  GENERATIVE REPRESENTATIONS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Why we can't maximize log p(x) directly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marginal integral has no closed form.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 =  ∫  p(x | z)  p(z)  dz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5486400" cy="237744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749040"/>
            <a:ext cx="54864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49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INTRACTABLE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3434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Non-trivial decoders → no closed form.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Monte Carlo estimates are noisy.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749040"/>
            <a:ext cx="5486400" cy="237744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374904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749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  (tractable lower bound)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43434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p(x)  ≥  ELBO  =  E_q[ log p(x|z) ]  −  D_KL( q(z|x) ‖ p(z) )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  =  D_KL( q(z|x) ‖ p(z|x) )  ≥ 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26364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is zero only when q matches the true posterior — the ELBO is exact in that limit.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6A  ·  GENERATIVE REPRESENTATIONS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reparameterization trick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sampling differentiable.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 =  μ(x)  +  σ(x)  ·  ε             ε  ~  N(0, I)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3576218" cy="22860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84048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069080"/>
            <a:ext cx="3301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RANDOMNESS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617720"/>
            <a:ext cx="32104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Lives in ε — which has NO PARAMETERS.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07738" y="3840480"/>
            <a:ext cx="3576218" cy="22860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384048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4898" y="4069080"/>
            <a:ext cx="3301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90618" y="4617720"/>
            <a:ext cx="32104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Flow through μ(x) and σ(x) back into the encoder.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58277" y="3840480"/>
            <a:ext cx="3576218" cy="22860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384048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5437" y="4069080"/>
            <a:ext cx="3301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41157" y="4617720"/>
            <a:ext cx="32104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Without this, you cannot backprop through the sampling step.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21792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 example —  μ = (0.4, −0.2),  log σ² = (−1.0, 0.2)  →  σ ≈ (0.61, 1.10)  →  z = μ + σ·ε.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6A  ·  GENERATIVE REPRESENTATIONS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VAEs are good for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use cases — and one limitation.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2918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23160"/>
            <a:ext cx="3301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INTERPOLATION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21045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z_t  =  (1−t) · μ(x₁)  +  t · μ(x₂)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Smooth blending between two examples in latent space.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07738" y="2194560"/>
            <a:ext cx="3576218" cy="32918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7738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4898" y="2423160"/>
            <a:ext cx="3301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0618" y="3017520"/>
            <a:ext cx="321045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High reconstruction error · low ELBO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 OOD inputs — a free outlier score.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8277" y="2194560"/>
            <a:ext cx="3576218" cy="32918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8277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5437" y="2423160"/>
            <a:ext cx="3301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41157" y="3017520"/>
            <a:ext cx="321045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Sample near encodings of rare-class examples to expand a small set.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Recall 0.71 → 0.79 with 150 synthetic urgents.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669280"/>
            <a:ext cx="41148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669280"/>
            <a:ext cx="11048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SAMPLES TEND TO BE BLURRY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5989320"/>
            <a:ext cx="11048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Gaussian decoder + averaging reconstruction loss → smooth blend instead of sharp detail.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6A  ·  GENERATIVE REPRESENTATIONS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Failure mode — posterior collapse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ignores input · KL drops to zero · VAE becomes unconditional.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144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Symptom — q(z|x) ≈ p(z) for every x. KL term near zero. Decoder learns p(x) unconditionally.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3576218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37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566160"/>
            <a:ext cx="3301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ANNEALING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114800"/>
            <a:ext cx="31190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Start with β = 0.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Ramp up the KL weight over training.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07738" y="3337560"/>
            <a:ext cx="3576218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7738" y="3337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4898" y="3566160"/>
            <a:ext cx="3301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BITS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36338" y="4114800"/>
            <a:ext cx="31190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Allow up to b nats of KL per dimension free.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Keeps z informative.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58277" y="3337560"/>
            <a:ext cx="3576218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58277" y="3337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5437" y="3566160"/>
            <a:ext cx="3301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DECODER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86877" y="4114800"/>
            <a:ext cx="31190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Less expressive decoder forces the encoder to carry information.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26364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common with very expressive decoders (e.g. autoregressive transformers).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6A  ·  GENERATIVE REPRESENTATIONS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GANs — a two-player game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vs Discriminator.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219456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 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 ~  N(0, I)   →   G(z)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fake sample.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486400" cy="219456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  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7889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or  G(z)   →   D(·)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Probability that the input is REAL.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1277295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57200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min_G  max_D     E[ log D(x) ]   +   E[ log( 1 − D(G(z)) ) ]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At equilibrium — D = 0.5 everywhere. In theory:  p_G = p_data.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6A  ·  GENERATIVE REPRESENTATIONS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Why GANs are sharp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discriminator penalizes any DETECTABLE difference.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29184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Reconstruction loss AVERAGES over uncertainty.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0" y="4114800"/>
            <a:ext cx="914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519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smooth, BLURRY samples.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86400" cy="329184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Discriminator catches blur as evidence of fakeness.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595360" y="411480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2519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SHARP samples. But no explicit likelihood. No clean training signal.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56692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GAN-generated faces are nearly photorealistic. VAE-generated faces are smoother — and visibly averaged.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6A  ·  GENERATIVE REPRESENTATIONS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Three GAN failure modes — one cause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supports kill the gradient.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228600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COLLAPSE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2104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Generator produces only a few sample types.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(All young female faces.)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07738" y="2194560"/>
            <a:ext cx="3576218" cy="228600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0618" y="2834640"/>
            <a:ext cx="32104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 and D cycle through exploits.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 monotone progress.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8277" y="2194560"/>
            <a:ext cx="3576218" cy="228600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41157" y="2834640"/>
            <a:ext cx="32104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Overconfident D gives no signal.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 learns nothing.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11277295" cy="17830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663440"/>
            <a:ext cx="41148" cy="1783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70916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074920"/>
            <a:ext cx="11048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Jensen-Shannon divergence saturates at  log 2  when supports are disjoint.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Gradient vanishes — G has no direction to improve.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5897880"/>
            <a:ext cx="11048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Wasserstein GAN replaces JS with Earth-Mover distance — restoring an informative gradient.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6A  ·  GENERATIVE REPRESENTATIONS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Conditional GANs — pedestrian scenes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that respects a label.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G( z , c )         D( x , c )         c  ∈  { day, dusk, night }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5486400" cy="2377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749040"/>
            <a:ext cx="54864" cy="2377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931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34340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 can be class label, text prompt, image, or any side information.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Generator AND discriminator both see c.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3749040"/>
            <a:ext cx="5486400" cy="2377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3749040"/>
            <a:ext cx="54864" cy="2377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931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434340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Conditioning on “night” produces dark scenes with streetlight illumination.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Nighttime pedestrian recall — 0.62 → 0.74 on real test frames.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26364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is evaluated on REAL held-out frames — never on its own.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6A  ·  GENERATIVE REPRESENTATIONS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Diffusion — learn to REVERSE noising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adds noise · reverse predicts the noise.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2004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x₀  →  x₁  →  …  →  x_T (pure Gaussian noise)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 form: x_t = √α̅_t · x₀ + √(1−α̅_t) · 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486400" cy="32004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97180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ε_θ(x_t, t) to predict the noise added.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 =  E [ ‖ ε  −  ε_θ(x_t, t) ‖² 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577840"/>
            <a:ext cx="11277295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5577840"/>
            <a:ext cx="41148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623560"/>
            <a:ext cx="11048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TRICK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5943600"/>
            <a:ext cx="11048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Sample t uniformly, sample one ε, form x_t in ONE shot. No need to march through every step at training time.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6A  ·  GENERATIVE REPRESENTATIONS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Why diffusion works — and the one place it hurts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advantages · one real cost.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22860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STABILITY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2104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Regression loss · no adversarial dynamics.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07738" y="2194560"/>
            <a:ext cx="3576218" cy="22860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QUALITY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0618" y="2834640"/>
            <a:ext cx="32104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Many small denoising steps → high fidelity.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8277" y="2194560"/>
            <a:ext cx="3576218" cy="22860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COVERAGE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41157" y="2834640"/>
            <a:ext cx="32104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Typically better than GANs.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Still: verify empirically.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11277295" cy="17830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663440"/>
            <a:ext cx="41148" cy="17830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70916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074920"/>
            <a:ext cx="11048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 forward passes per sample. ~1 sec/image at T = 1000 with classic DDPM.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DDIM and DPM-Solver cut to 10–50 steps — but adoption still hurts when real-time matters.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6A  ·  GENERATIVE REPRESENTATIONS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Classifier-free guidance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↔ diversity dial.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ε̂  =  ε_θ(x_t, none)   +   w  ·  ( ε_θ(x_t, c)  −  ε_θ(x_t, none) 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3576218" cy="22860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749040"/>
            <a:ext cx="3576218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93192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 = 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02920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but off-prompt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07738" y="3749040"/>
            <a:ext cx="3576218" cy="22860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7738" y="3749040"/>
            <a:ext cx="3576218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07738" y="393192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 =  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07738" y="4480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90618" y="502920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middle ground · post-filter outputs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8277" y="3749040"/>
            <a:ext cx="3576218" cy="22860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3749040"/>
            <a:ext cx="3576218" cy="640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8277" y="393192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 =  10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158277" y="4480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ON-PROMPT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41157" y="502920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but REPETITIVE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21792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Pedestrian-detector team — 500 images at w = 5, kept 300 that passed visual QC.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6A  ·  GENERATIVE REPRESENTATIONS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Evaluating generators — quality AND diversity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one alone.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200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23160"/>
            <a:ext cx="3301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FID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2104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Distance between real and generated feature distributions in INCEPTION space.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88109" y="461772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754880"/>
            <a:ext cx="32104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the feature extractor.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07738" y="2194560"/>
            <a:ext cx="3576218" cy="3200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4898" y="2423160"/>
            <a:ext cx="3301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IS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490618" y="3154680"/>
            <a:ext cx="32104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Classifier confidence × marginal label entropy.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 comparison to real data.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38648" y="461772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0618" y="4754880"/>
            <a:ext cx="32104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fooled.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8277" y="2194560"/>
            <a:ext cx="3576218" cy="3200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5437" y="2423160"/>
            <a:ext cx="3301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 / R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341157" y="3154680"/>
            <a:ext cx="32104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 = quality (samples land in real support).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 = coverage (real support landed in).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89186" y="461772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1157" y="4754880"/>
            <a:ext cx="32104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Mode-collapsed GAN: high P, low 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669280"/>
            <a:ext cx="41148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669280"/>
            <a:ext cx="11048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All are PROXIES. The only evaluation that ultimately matters is downstream performance on a REAL held-out test set.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6A  ·  GENERATIVE REPRESENTATIONS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Comparing VAE · GAN · Diffusion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trade-offs.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2834640"/>
                <a:gridCol w="28346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Sample quality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· blurry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when 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very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Diversity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· decoder-dep.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Mode-collapse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· still verify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Training stability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to monitor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Stable, still sensitive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Generation speed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(1 pass)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(1 pass)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(many steps)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Likelihood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ELBO lower bound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Best for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Interpolation · 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 images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High-fidelity 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VAE for latent structure. GAN for sharpness. Diffusion for fidelity. Flow for exact likelihood.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6A  ·  GENERATIVE REPRESENTATIONS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artifact — Generative Model Audit Card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fields documenting what, how, and what could go wrong.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955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be documented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Model family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VAE · GAN · diffusion · flow · hybrid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Training data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Sources · known gaps · biases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Generation task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generate, for what downstream 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Conditioning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· text · image · 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Quality metrics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FID · IS · P/R  +  feature extractor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Diversity assessment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Mode-collapse tests · coverage probes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Human evaluation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 · sample size · agreement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Known failure modes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classes · unusual poses · lighting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Downstream impact &amp; risks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task effect · safeguards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example — conditional diffusion: FID 28.3 overall · 34.7 nighttime · fooling rate 68% (κ=0.54) · recall 0.62 → 0.74.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6A  ·  GENERATIVE REPRESENTATIONS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Four traps that hide failure behind a flattering grid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them is invisible from inside the lab.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86868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Evaluating quality, IGNORING diversity.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Beautiful but identical samples.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36392"/>
            <a:ext cx="11277295" cy="86868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36392"/>
            <a:ext cx="54864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36392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80160" y="3136392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Trusting FID alone.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Extractor-dependent — can flip rankings.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78224"/>
            <a:ext cx="11277295" cy="86868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078224"/>
            <a:ext cx="54864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078224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280160" y="4078224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Letting generated data CONTAMINATE evaluation.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model judges itself.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020056"/>
            <a:ext cx="11277295" cy="86868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020056"/>
            <a:ext cx="54864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020056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280160" y="5020056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Ignoring failure modes.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coverage gap may get AMPLIFIED, not fixed.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Pedestrian-detector example — overall accuracy +5%, wheelchair detection WORSE. Aggregate hid the slice.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BREATH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Generation = imposing structure on a latent space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so sampling is meaningful.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3200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= smooth &amp; interpretable but blurry · GAN = sharp but unstable · Diffusion = high-fidelity but slow.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Reparameterization makes sampling DIFFERENTIABLE.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prediction in diffusion IS score matching in disguise.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without diversity is mode collapse with good lighting.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performance on a REAL held-out set is the only evaluation that ships.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35661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6b — Reinforcement Learning · acting agents that shape their own data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design replaces label design · exploration joins evaluation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&amp; normalizing flows for exact-likelihood density estimation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5074920"/>
            <a:ext cx="109728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532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Generative Model Audit Card for a model you have trained or studied — including at least TWO known failure modes and ONE misuse risk.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by Design — Chapter 6a: Generative Representations</dc:title>
  <dc:subject>PptxGenJS Presentation</dc:subject>
  <dc:creator>Sam Urmian</dc:creator>
  <cp:lastModifiedBy>Sam Urmian</cp:lastModifiedBy>
  <cp:revision>1</cp:revision>
  <dcterms:created xsi:type="dcterms:W3CDTF">2026-05-16T23:31:37Z</dcterms:created>
  <dcterms:modified xsi:type="dcterms:W3CDTF">2026-05-16T23:31:37Z</dcterms:modified>
</cp:coreProperties>
</file>