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9a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Ranking, Recommendation,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and Exposure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the ranked list shapes its own training data.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recommender that erased the alternatives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ate 80% of the top-5.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Launched a 5-resource recommender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 CONCERNING students.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500 resources in the library.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Diverse mix in the top 5.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5212080"/>
            <a:ext cx="3657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 accuracy is HIGHER than ever.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25135" cy="3931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41148" cy="3931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286000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697480"/>
            <a:ext cx="5196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Worked-example videos drive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80%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 recommendations.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Practice problems and tutoring sign-ups have nearly disappeared.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replay just IS last semester's policy.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four blocks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CF to a counterfactual audit.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50148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513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Recommendation = ranking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· cold 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2194560"/>
            <a:ext cx="550148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2194560"/>
            <a:ext cx="550148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15888" y="3063240"/>
            <a:ext cx="513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Matrix factorization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5888" y="352044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factors · ALS · SGD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550148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97680"/>
            <a:ext cx="550148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080" y="5166360"/>
            <a:ext cx="513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Implicit feedback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· NDCG · MRR · MAP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3008" y="4297680"/>
            <a:ext cx="550148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4297680"/>
            <a:ext cx="550148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588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15888" y="5166360"/>
            <a:ext cx="513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Counterfactual eval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5888" y="562356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· DR · audit card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Recommendation as ranking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sort · surface the top-k.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31190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Pointwise · pairwise · listwise SCORING.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898" y="2423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RETRIEVAL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6338" y="3154680"/>
            <a:ext cx="31190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Precision · recall · NDCG. Same metrics.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5437" y="2423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REP. LEARNING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6877" y="3154680"/>
            <a:ext cx="31190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User &amp; item AS VECTORS. Score via dot product.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77295" cy="128016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66360"/>
            <a:ext cx="41148" cy="1280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21208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Score all 500 resources for THIS student · return the top 5. Ranking allocates user ATTENTION — and attention has consequences.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Collaborative filtering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items SIMILAR USERS liked.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CF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Find users similar to u.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Recommend items THEY liked.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2976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cosine or Pearson.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 each item u liked,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find items similar by WHICH USERS liked them.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2976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when items are stable.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66928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Both depend on enough interactions. CF FAILS on sparse data — and on brand-new users / items.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cold-start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interaction becomes SELF-REINFORCING invisibility.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6517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FALLBACK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Show what's globally popular.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38404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quiz NEVER shown.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26517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PRIOR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0618" y="28346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Borrow CTR from SIMILAR items.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38404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3977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content representation.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26517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BONUS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41157" y="28346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 / √(nᵢ + 1) added to score.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38404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3977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 little quality for fairness.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1277295" cy="14173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029200"/>
            <a:ext cx="4114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749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NUMBERS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440680"/>
            <a:ext cx="11048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Priors  0.18 · 0.16 · 0.15. New quiz prior  0.14  +  0.05 exploration bonus  =  0.19.    Cold start is a DESIGN problem.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Matrix factorization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vectors for the sparse user-item table.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≈  U · V⊤              r̂_ui  =  u_u⊤  v_i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Σ_{(u,i) ∈ obs}  ( r_ui  −  u_u⊤ v_i )²   +   λ ( ‖U‖_F²  +  ‖V‖_F² 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11277295" cy="12344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212080"/>
            <a:ext cx="41148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2578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62356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BLANK entry is NOT a rating of zero. The model fits OBSERVED entries only.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optimizers · same fixed point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 vs  SGD.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6576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  ←  ( Σ_{i ∈ Ω_u} v_i v_i⊤  +  λI )⁻¹  Σ_{i ∈ Ω_u} r_ui  v_i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42976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ridge per user.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outer iterations.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per-user.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  ←  u_u  +  η ( ε_ui  v_i  −  λ u_u 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v_i  ←  v_i  +  η ( ε_ui  u_u  −  λ v_i 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0" y="42976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Streaming-friendly.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weighted feedback.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tuning required.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the latent factors MEAN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axes — not labeled ones.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2104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action  ↔  drama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recent  ↔  classic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4898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0618" y="2971800"/>
            <a:ext cx="32104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example  ↔  conceptual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short  ↔  long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5437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1157" y="2971800"/>
            <a:ext cx="32104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800 students × 500 resources, k = 20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Student A predicted 4.2 / 5 for Resource 247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77295" cy="12801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66360"/>
            <a:ext cx="41148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21208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PCA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MF fits ONLY observed entries. The matrix is sparse — not a dense covariance.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Implicit feedback — abundant but AMBIGUOUS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Non-click is not “no.”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3774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SIGNALS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Plentiful and trustworthy.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Click · dwell · return · purchase.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23774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Unreliable. Was the item shown?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Was it noise? Was the user confused?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77295" cy="1691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54880"/>
            <a:ext cx="41148" cy="1691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80060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120640"/>
            <a:ext cx="11048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on NON-INTERACTIONS as negatives — that teaches the model to SUPPRESS items the user never had a chance to evaluate.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Pointwise · pairwise · listwise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definitions of “the same answer.”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2104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Squared error · BCE per item.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8109" y="461772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7548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Calibration matters.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42316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0618" y="3017520"/>
            <a:ext cx="32104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BPR · RankNet on  (i⁺, i⁻)  for the same user.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38648" y="461772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47548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Learn the ORDER directly.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423160"/>
            <a:ext cx="3576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1157" y="3017520"/>
            <a:ext cx="32104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LambdaRank weights by  |Δ NDCG|.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ListNet uses Plackett-Luce KL.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89186" y="461772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47548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Optimize the LIST as a whole.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Choice = which “same” matches what the user experiences AND what you actually report.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Position-aware metrics — NDCG@k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numbers for a tiny list.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DCG@k  =  Σᵢ  ( 2^relᵢ − 1 )  /  log₂(i + 1)             NDCG@k  =  DCG@k  /  IDCG@k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list of 3 items · graded relevance ( 2 , 0 , 3 )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94484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MRR  =  1.0   (first relevant at rank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   =  ( 1  +  2/3 ) / 2   ≈   0.833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DCG@3   =  2  +  0/log₂3  +  3/log₂4   =   3.5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IDCG@3 ≈  4.262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NDCG@3 ≈  0.821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Always report k — and justify it from the UI.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Counterfactual evaluation — IPS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 logs to correct SELECTION BIAS.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V̂_IPS(π)  =  (1/N)  Σ   π(i | u) / π₀(i | u)   ·   y_ui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486400" cy="26517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Quizzes shown only 10% of the time  →  each observed click weighted by 10.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Unbiased when π has support inside π₀.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486400" cy="26517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74904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3434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Variance grows with  1 / π₀.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single click on a rarely-shown item can dominate.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CLIP small propensities — trade bias for variance.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IPS on a five-row log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numbers — and the variance warning made concrete.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194560"/>
          <a:ext cx="76196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π₀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quiz 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quiz B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video C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quiz 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video 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212080"/>
            <a:ext cx="11277295" cy="12344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212080"/>
            <a:ext cx="41148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2578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 π  =  min(2 π₀, 1)        V̂_IPS  =  ( 2 + 0 + 2 + 2 + 0 ) / 5  =  1.2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5806440"/>
            <a:ext cx="1104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single click with weight 10 can move the estimator by 2 in absolute value — CLIP.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Doubly robust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model · add back importance-weighted residual.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V̂_DR(π)  =  (1/N) Σ  [  r̂_π(u)  +  π(i|u) / π₀(i|u)  ·  ( y_ui − r̂(u, i) )  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11277295" cy="25146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31920"/>
            <a:ext cx="41148" cy="2514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7764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1104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UNBIASED if EITHER  the propensities OR the reward model is correct.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93776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counterfactual evaluator in modern recommendation — tolerates one source of misspecification at a time.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logging that records WHICH item was shown at WHAT position with WHAT propensity.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Recommender systems SHAPE their own data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four-step feedback loop.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2328" y="27432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328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15488" y="356616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35528" y="27432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5528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WITH WHAT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THEY SEE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58688" y="356616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78728" y="27432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BECOMES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01888" y="356616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21928" y="2743200"/>
            <a:ext cx="2377440" cy="1645920"/>
          </a:xfrm>
          <a:prstGeom prst="roundRect">
            <a:avLst>
              <a:gd name="adj" fmla="val 4444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1928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NEXT 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RE-RECOMMENDS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210648" y="4434840"/>
            <a:ext cx="0" cy="41148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81048" y="4846320"/>
            <a:ext cx="82296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81048" y="4846320"/>
            <a:ext cx="0" cy="-41148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92328" y="4892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rich-get-richer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77295" cy="11430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303520"/>
            <a:ext cx="41148" cy="11430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303520"/>
            <a:ext cx="11048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Convergence on a NARROW SLICE of item space — and offline replay rewards the LOGGER, not the new policy.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Four ways the loop hurts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invisible from inside the lab.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6916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691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AMPLIFICATION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Already-popular items get MORE exposure.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501488" cy="16916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194560"/>
            <a:ext cx="54864" cy="1691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37744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BUBBLES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5888" y="2788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Users see only what looks like what they already liked.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501488" cy="16916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4864" cy="1691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0624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UNFAIRNESS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Two-sided platforms can starve niche providers.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3008" y="4023360"/>
            <a:ext cx="5501488" cy="169164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4023360"/>
            <a:ext cx="54864" cy="1691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420624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CORRUPTION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5888" y="46177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Offline replay = good — because tested on data the policy generated.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Campus job board — software listed first alphabetically → became “popular” → suppressed research / nonprofit / teaching roles.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Mitigating exposure bias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diversify · log · audit.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194560"/>
            <a:ext cx="6659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Random · ε-greedy · Thompson sampling · contextual bandits.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77295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3017520"/>
            <a:ext cx="6659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Top-k must span categories or providers.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27729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FAIRNESS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3840480"/>
            <a:ext cx="6659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Target policy across providers — not just users.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77295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663440"/>
            <a:ext cx="54864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63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80160" y="4663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AUDIT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663440"/>
            <a:ext cx="6659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Save what you recommended at what propensity. Use IPS / DR. Run replay on RANDOMIZED exposure.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Monitor the ENTROPY of the training-data item distribution. If it collapses — the loop is winning.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Contextual bandits — the minimal online recommender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a context · each candidate is an arm.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2104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features  +  query  + 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arms (items)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4898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0618" y="3017520"/>
            <a:ext cx="32104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/ no-click  →  update arm posterior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0618" y="4389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ε-greedy · UCB · Thompson sampling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5437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1157" y="3017520"/>
            <a:ext cx="32104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 conditioned on context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41157" y="4389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Bridge to RL (Ch. 6b)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 many production rec problems — the bandit subset is enough. Pure RL adds complexity that rarely pays back.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Recommendation Audit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exposes · suppresses · amplifies.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863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documented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Recommendation task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· context · top-k ·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Signal sources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· dwell · explicit rating · purchase ·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Model family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 · MF · neural · hybrid · LLM-based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Cold-start strategy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 · content prior · exploration bonus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Implicit feedback treatment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Negatives — sampled · weighted · exposure-modeled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Evaluation protocol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replay · IPS · DR · A/B · randomized exposure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Exposure analysis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Item-distribution entropy · provider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Diversity &amp; fairness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targets · provider quotas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Feedback-loop risk + monitoring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signals a runaway loop · alarm thresholds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— worked examples &amp; lectures = 68% of recs from 40% of library · ε-greedy (ε=0.05) · entropy alert &lt; 0.75.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9A  ·  RANKING, RECOMMENDATION &amp; EXPOSURE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Five recurring mistakes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HIDE behind a healthy-looking offline metric.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6858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Treating NON-INTERACTIONS as negatives.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1277295" cy="6858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92608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Offline eval without COUNTERFACTUAL CORRECTION.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1277295" cy="6858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54864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576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Ignoring COLD START.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77295" cy="6858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54864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389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Neglecting EXPOSURE FAIRNESS on a two-sided platform.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11277295" cy="6858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20640"/>
            <a:ext cx="54864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120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512064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Deploying without monitoring the FEEDBACK LOOP.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examples dominate because they were RECOMMENDED early · collected more clicks · then re-recommended.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Recommendation is RANKING.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Ranking allocates ATTENTION.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beats CF on sparse data — but cold start is a design problem.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non-interaction is MISSING — not negative.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· MAP · MRR carry position semantics. Pick one that matches the UI.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replay rewards the LOGGER — IPS / DR / randomization / A/B.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FEEDBACK LOOP. Monitor item-distribution entropy.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9b — Tabular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 — Experiments &amp; claim audits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 — Reliability: fallback policies for adaptive systems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Recommendation Audit Card for a recommender you use daily. Identify at least TWO feedback-loop risks and propose a measurement for each.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9a: Ranking, Recommendation, and Exposure</dc:title>
  <dc:subject>PptxGenJS Presentation</dc:subject>
  <dc:creator>Sam Urmian</dc:creator>
  <cp:lastModifiedBy>Sam Urmian</cp:lastModifiedBy>
  <cp:revision>1</cp:revision>
  <dcterms:created xsi:type="dcterms:W3CDTF">2026-05-17T11:47:01Z</dcterms:created>
  <dcterms:modified xsi:type="dcterms:W3CDTF">2026-05-17T11:47:01Z</dcterms:modified>
</cp:coreProperties>
</file>