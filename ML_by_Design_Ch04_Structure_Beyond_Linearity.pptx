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solidFill>
              <a:srgbClr val="0077B6"/>
            </a:solidFill>
            <a:ln w="38100" cap="flat">
              <a:solidFill>
                <a:srgbClr val="0077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0.72</c:v>
                </c:pt>
                <c:pt idx="1">
                  <c:v>0.81</c:v>
                </c:pt>
                <c:pt idx="2">
                  <c:v>0.88</c:v>
                </c:pt>
                <c:pt idx="3">
                  <c:v>0.93</c:v>
                </c:pt>
                <c:pt idx="4">
                  <c:v>0.97</c:v>
                </c:pt>
                <c:pt idx="5">
                  <c:v>0.99</c:v>
                </c:pt>
                <c:pt idx="6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E65100"/>
            </a:solidFill>
            <a:ln w="3810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</c:v>
                </c:pt>
                <c:pt idx="1">
                  <c:v>0.78</c:v>
                </c:pt>
                <c:pt idx="2">
                  <c:v>0.85</c:v>
                </c:pt>
                <c:pt idx="3">
                  <c:v>0.86</c:v>
                </c:pt>
                <c:pt idx="4">
                  <c:v>0.83</c:v>
                </c:pt>
                <c:pt idx="5">
                  <c:v>0.78</c:v>
                </c:pt>
                <c:pt idx="6">
                  <c:v>0.72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2D5986"/>
                    </a:solidFill>
                    <a:latin typeface="Arial"/>
                  </a:rPr>
                  <a:t>tree depth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2D5986"/>
                    </a:solidFill>
                    <a:latin typeface="Arial"/>
                  </a:rPr>
                  <a:t>accuracy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/ min distance ratio</c:v>
                </c:pt>
              </c:strCache>
            </c:strRef>
          </c:tx>
          <c:spPr>
            <a:solidFill>
              <a:srgbClr val="E65100"/>
            </a:solidFill>
            <a:ln w="4445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5</c:v>
                  </c:pt>
                  <c:pt idx="2">
                    <c:v>10</c:v>
                  </c:pt>
                  <c:pt idx="3">
                    <c:v>20</c:v>
                  </c:pt>
                  <c:pt idx="4">
                    <c:v>50</c:v>
                  </c:pt>
                  <c:pt idx="5">
                    <c:v>100</c:v>
                  </c:pt>
                  <c:pt idx="6">
                    <c:v>200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3.4</c:v>
                </c:pt>
                <c:pt idx="1">
                  <c:v>2.1</c:v>
                </c:pt>
                <c:pt idx="2">
                  <c:v>1.6</c:v>
                </c:pt>
                <c:pt idx="3">
                  <c:v>1.3</c:v>
                </c:pt>
                <c:pt idx="4">
                  <c:v>1.15</c:v>
                </c:pt>
                <c:pt idx="5">
                  <c:v>1.08</c:v>
                </c:pt>
                <c:pt idx="6">
                  <c:v>1.04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2D5986"/>
                    </a:solidFill>
                    <a:latin typeface="Arial"/>
                  </a:rPr>
                  <a:t>feature dimension 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1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D5986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2D5986"/>
                    </a:solidFill>
                    <a:latin typeface="Arial"/>
                  </a:rPr>
                  <a:t>max-dist  /  min-dist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4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Structure Beyond Linearity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the line fails — read the failure.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the line fails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 groups, one weighted sum — a structural mismatch.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0292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single weighted sum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blurs the patterns together.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71600" y="4297680"/>
            <a:ext cx="3200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480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has ONE rule for everyone.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often has different rules in different regions.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2194560"/>
            <a:ext cx="5882335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194560"/>
            <a:ext cx="54864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Low attendance, OK quizzes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8076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 risk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520440"/>
            <a:ext cx="5882335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3520440"/>
            <a:ext cx="54864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Regular attendance, many late submissions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8076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 risk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4846320"/>
            <a:ext cx="5882335" cy="11887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4846320"/>
            <a:ext cx="54864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Averages them into noise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80760" y="5715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misses both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Rule: if attendance very low → flag.  Else if late submissions frequent → flag.  Else don’t.  Linear can’t express that.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real question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“which model next?” — what STRUCTURE is missing?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9448495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514600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linear baseline fails, is the missing structure mainly…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30175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branching logic,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supervised geometry in the current representation,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or unlabelled organization?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3515258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846320"/>
            <a:ext cx="3515258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02920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Trees &amp; ensembles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38218" y="4846320"/>
            <a:ext cx="3515258" cy="11887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8218" y="4846320"/>
            <a:ext cx="3515258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8218" y="502920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38218" y="548640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SVM · KNN · Naive Bayes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19237" y="4846320"/>
            <a:ext cx="3515258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9237" y="4846320"/>
            <a:ext cx="3515258" cy="45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9237" y="502920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19237" y="548640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Clustering · PCA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five families, five failures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family is a response to a NAMED kind of missing structure.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map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first, methods second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Trees &amp; ensembles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/ conditional logic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SVM &amp; kernels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structure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Naive Bayes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Class-conditional probability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KNN, clustering, PCA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&amp; unlabelled organization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8277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8277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1157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41157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Structural Diagnosis Sheet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341157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deliverable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small structural map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first-pass diagnoses — not six method names.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200400"/>
                <a:gridCol w="393192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mismatch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first 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Conditional thresholds / interactions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 &amp; tree ensembles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rules in different regions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Supervised — use current representation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through geometry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neighbors first;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&amp; Naive Bayes later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current coordinates already support a justified rule?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Unlabelled organization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&amp; dimensionality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 groupings or directions of variation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 a first pass — sort among THREE structural stories, not six method names.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running cloud — one dataset, three readings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plotted in (clicks, late submissions) — what to do with them?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029200" cy="40233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5852160"/>
            <a:ext cx="4114800" cy="0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0" cy="3291840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310896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338328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4754880"/>
            <a:ext cx="274320" cy="2743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029200"/>
            <a:ext cx="274320" cy="2743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5897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submissions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2194560"/>
            <a:ext cx="5882335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19456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8076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Trees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plane along axis-aligned rules.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0" y="3566160"/>
            <a:ext cx="5882335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356616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OF NEARBY CASES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KNN / SVM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8076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labels by distance; find the most defensible separator.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4937760"/>
            <a:ext cx="5882335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493776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VARIATION (no labels)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5349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Clustering / PCA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80760" y="5806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structure without using outcomes.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Trees — model for conditional logic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flowchart in feature space, not a fancier curve.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decision tree predicts by recursively partitioning the feature space. Each internal node asks a question, each branch is an answer, each leaf produces a prediction.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FLOWCHART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3749040"/>
            <a:ext cx="2743200" cy="64008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 ≤ 0.65 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2194560" cy="594360"/>
          </a:xfrm>
          <a:prstGeom prst="roundRect">
            <a:avLst>
              <a:gd name="adj" fmla="val 7692"/>
            </a:avLst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937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 RISK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4937760"/>
            <a:ext cx="2194560" cy="59436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4937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 &gt; 2.5 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4389120"/>
            <a:ext cx="-1645920" cy="5486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4389120"/>
            <a:ext cx="1554480" cy="5486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576072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5760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RISK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576072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5760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SAFE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5532120"/>
            <a:ext cx="-1005840" cy="2286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5532120"/>
            <a:ext cx="457200" cy="2286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337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749040"/>
            <a:ext cx="5303520" cy="2514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9319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Trees carve the feature space into axis-aligned RECTANGLES.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Each leaf is one region — one prediction.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model is non-linear, but every boundary is parallel to a feature axis.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Choosing a split — Gini scores homogeneity gain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algorithm decide where to cut?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 =  1  −  Σ pₖ²       binary case →  G = 2 p (1 − p)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486400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— attendance ≤ 0.65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Parent: 4 risk / 4 safe → G = 0.50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child G  =  0.20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Reduction  =  0.30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WINNER at root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337560"/>
            <a:ext cx="5486400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33756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337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 — late ≤ 1.5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3931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Parent: 4 risk / 4 safe → G = 0.50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480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child G  =  0.33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5029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Reduction  =  0.17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split with the LARGEST reduction in impurity wins. Recurse on each child until a stopping rule fires.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Depth, overfitting, pruning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is a poor depth guide — validation decides.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19456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132320" y="2194560"/>
            <a:ext cx="4602175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0" y="2194560"/>
            <a:ext cx="4114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Cap how many splits the tree can make.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32320" y="3291840"/>
            <a:ext cx="4602175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0" y="3291840"/>
            <a:ext cx="4114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SAMPLES / NODE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0" y="3703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Refuse to split nodes with few examples.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32320" y="4389120"/>
            <a:ext cx="4602175" cy="9601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0" y="4389120"/>
            <a:ext cx="4114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POST-PRUNING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0" y="4800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Grow first, then collapse weak branches on validation.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5760720"/>
            <a:ext cx="41148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5760720"/>
            <a:ext cx="11048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single decision tree is OFTEN UNSTABLE — small data changes can give different root splits. Ensembles fix the stability problem.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one tree to many — ensembles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the diagnosis; don’t replace the diagnosis.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402336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partition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88109" y="3474720"/>
            <a:ext cx="91440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118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88620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rules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8463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5120640"/>
            <a:ext cx="3119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easily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07738" y="2194560"/>
            <a:ext cx="3576218" cy="40233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36338" y="288036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many parallel diverse trees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38648" y="3474720"/>
            <a:ext cx="914400" cy="0"/>
          </a:xfrm>
          <a:prstGeom prst="line">
            <a:avLst/>
          </a:prstGeom>
          <a:noFill/>
          <a:ln w="1016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6338" y="36118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36338" y="388620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tabular default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36338" y="48463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36338" y="5120640"/>
            <a:ext cx="3119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interpretable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step-by-step rule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58277" y="2194560"/>
            <a:ext cx="3576218" cy="40233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86877" y="288036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sequential, error-correcting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489186" y="3474720"/>
            <a:ext cx="914400" cy="0"/>
          </a:xfrm>
          <a:prstGeom prst="line">
            <a:avLst/>
          </a:prstGeom>
          <a:noFill/>
          <a:ln w="1016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86877" y="361188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86877" y="388620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tuned accuracy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on Kaggle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86877" y="48463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86877" y="5120640"/>
            <a:ext cx="31190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Tuning-sensitive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if pushed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3550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Forests stabilize — but they inherit the data’s biases.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averaging works — variance falls, bias does not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variance floor when trees are correlated.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563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TREES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563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Var(avg)  =  σ² / 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5848" y="2286000"/>
            <a:ext cx="563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TREES  (correlation ρ)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5848" y="2651760"/>
            <a:ext cx="563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Var(avg)  =  ρ σ²  +  (1−ρ) σ² / 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40480"/>
            <a:ext cx="4114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8620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 ·  Var → ρ σ²  as  T → ∞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25196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More trees CANNOT save you if they all err the same way. Diversity is the real currency.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937760"/>
            <a:ext cx="11277295" cy="15544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83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SOURCES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resamples + random feature subset per split.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 ·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by design — each new tree fits residuals of the current ensemble.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SVMs — the most defensible separator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boundary furthest from any training point.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 SVM chooses the separating hyperplane with the largest MARGIN between classes. Support vectors are the points that determine the boundary.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EXAMPLE — two negatives at 0, 1 · two positives at 3,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4114800"/>
            <a:ext cx="9418320" cy="0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4114800"/>
            <a:ext cx="0" cy="137160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26180" y="4114800"/>
            <a:ext cx="0" cy="137160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758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4114800"/>
            <a:ext cx="0" cy="137160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35340" y="4114800"/>
            <a:ext cx="0" cy="137160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674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789920" y="4114800"/>
            <a:ext cx="0" cy="137160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6132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07008" y="3950208"/>
            <a:ext cx="329184" cy="32918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61588" y="3950208"/>
            <a:ext cx="329184" cy="32918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4388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70748" y="3950208"/>
            <a:ext cx="329184" cy="3291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3548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625328" y="3950208"/>
            <a:ext cx="329184" cy="3291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8128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03470" y="4663440"/>
            <a:ext cx="0" cy="731520"/>
          </a:xfrm>
          <a:prstGeom prst="line">
            <a:avLst/>
          </a:prstGeom>
          <a:noFill/>
          <a:ln w="25400">
            <a:solidFill>
              <a:srgbClr val="E6510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98907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margin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4663440"/>
            <a:ext cx="0" cy="731520"/>
          </a:xfrm>
          <a:prstGeom prst="line">
            <a:avLst/>
          </a:prstGeom>
          <a:noFill/>
          <a:ln w="25400">
            <a:solidFill>
              <a:srgbClr val="2E7D3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16636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margin  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wider margin gives more room before a point would be misclassified — robust to small perturbations.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Soft margin &amp; the kernel trick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for messy data · kernels for nonlinear boundaries.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SOFT-MARGIN OBJECTIVE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‖w‖²  +  C · Σ max(0, 1 − yᵢ f(xᵢ))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703320"/>
            <a:ext cx="45720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4048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‖w‖²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wide margin
</a:t>
            </a:r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term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pay for violations
</a:t>
            </a:r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controls the trade-off (chosen on validation).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TRICK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560320"/>
            <a:ext cx="5394960" cy="1005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5603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Replace  xᵢ⊤ xⱼ  with  K(xᵢ, xⱼ)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linear in φ-space, nonlinear in input space.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749040"/>
            <a:ext cx="5394960" cy="9601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749040"/>
            <a:ext cx="4114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(1 + x⊤x')ᵖ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4846320"/>
            <a:ext cx="5394960" cy="9601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846320"/>
            <a:ext cx="41148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exp(−γ ‖x − x'‖²)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SVMs cannot invent missing features. A bad embedding cannot be repaired by a clever kernel.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Naive Bayes — generative probabilistic baseline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each class, how surprising is x?”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7432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Given x, which class?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43200" y="3520440"/>
            <a:ext cx="9144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SVMs, most NNs. Direct boundary.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27432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 (Naive Bayes)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880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For each class, how surprising is x?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95360" y="352044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657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class priors + per-class feature patterns. Pick the class that makes x most plausible.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11277295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20640"/>
            <a:ext cx="41148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12064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ASSUMPTION  ·  features conditionally independent given class — usually false, often still useful.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Try it when:  many sparse features  ·  limited labels  ·  you need a transparent probabilistic baseline.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KNN — distance IS the real model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fitting. The defense is in the representation and similarity rule.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Distance is the real model.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576218" cy="2377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661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321045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training set.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query, find the k nearest neighbors.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(classification) or average (regression).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3566160"/>
            <a:ext cx="3576218" cy="2377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35661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0618" y="379476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METRIC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4251960"/>
            <a:ext cx="321045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‖x − x′‖₂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choices: Manhattan, cosine, learned metrics.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8277" y="3566160"/>
            <a:ext cx="3576218" cy="2377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35661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379476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1157" y="4251960"/>
            <a:ext cx="321045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O(nd) per query for naïve search.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O(nd) memory for the whole training set.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KD-trees / approximate search help for large 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Defending a KNN result means defending the representation AND the similarity rule together.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scaling flip — same data, opposite label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51 000 clicks, 5 late submissions.  Find the 2 nearest neighbours.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UNITS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  (50k, 0)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1000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safe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  (52k, 1)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1000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safe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  (20k, 4)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31 000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  (22k, 5)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29 000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Nearest = A, B  →  predict  SAFE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 (÷ 10 000 on clicks)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60604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  (5.0, 0)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5.00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safe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  (5.2, 1)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4.00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safe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  (2.0, 4)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3.26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  (2.2, 5)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2.90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30936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Nearest = D, C  →  predict  RISK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5349240"/>
            <a:ext cx="11277295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534924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label flipped — without changing any data point.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Only the SCALING of one feature changed.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Curse of dimensionality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“Nearest” loses meaning as the dimension grows.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19456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132320" y="2286000"/>
            <a:ext cx="4602175" cy="1143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0" y="2286000"/>
            <a:ext cx="41148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909560" y="2423160"/>
            <a:ext cx="3824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Geometry is fragile when the representation is poor.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132320" y="3566160"/>
            <a:ext cx="4602175" cy="1143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0" y="3566160"/>
            <a:ext cx="41148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909560" y="3703320"/>
            <a:ext cx="3824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KNN is nonparametric — the burden shifts to representation quality and data density.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32320" y="4846320"/>
            <a:ext cx="4602175" cy="1143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0" y="4846320"/>
            <a:ext cx="41148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909560" y="4983480"/>
            <a:ext cx="3824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Learned representations (Ch. 5+) improve the geometry itself.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59893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As d grows, nearest and farthest become less distinguishable. Distance loses information.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“predict a label” to “find an organization”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chapter’s biggest intellectual moves.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10896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label should I predict?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43200" y="388620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23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guide the loss.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held-out accuracy on the right metric.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880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organization or low-D summary is worth inspecting?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95360" y="388620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023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the structure is stable, defensible, and operationally useful.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11277295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577840"/>
            <a:ext cx="4114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62356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897880"/>
            <a:ext cx="11048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Stability under resampling · sensitivity to initialization · robustness to small scaling changes. Unstable → treat as exploratory, not factual.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k-Means — alternate assignment and recomputation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steps, repeated until centers stop moving.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1.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Assign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each point to its nearest center.
</a:t>
            </a:r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2.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Recompute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each center as the mean of its points.
</a:t>
            </a:r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3.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Repeat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until centers stop moving.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5120640"/>
            <a:ext cx="45720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257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mean?  It minimizes Σ ‖xᵢ − c‖² within a cluster.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WORKED ITERATION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60604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3891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 c₁ = (1, 1)   c₂ = (5, 4)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1), (1, 2)   →  c₁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(4, 4), (5, 4)   →  c₂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c₁' = (1, 1.5)   c₂' = (4.5, 4)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309360" y="5029200"/>
            <a:ext cx="548640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5029200"/>
            <a:ext cx="41148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5074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BIAS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37960" y="53949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compact, roughly spherical clusters. Crescent-shaped or elongated groups get carved wrong.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 matters — k-Means++ picks well-separated seeds; multiple restarts catch bad local minima.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Clusters are hypotheses — not discoveries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claim — each stronger than the last.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LEVEL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9456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GROUPING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788920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Intra-cluster distance small vs. inter-cluster.  Silhouette tests this.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1277295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LEVEL 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3657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USEFULNESS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4560" y="4069080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Acting on the grouping produces better outcomes than ignoring 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11277295" cy="11887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754880"/>
            <a:ext cx="54864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7548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LEVEL 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194560" y="4937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/ SOCIAL INTERPRETATION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5349240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name like “disengaged” or “deal hunter” needs external evidence — interviews, follow-up, theory.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Don’t name a cluster before you test its stability.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PCA — a lens, not a competitor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direction of greatest variance. Project. Inspect.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(1/n) Σ (xᵢ⊤ u)²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equivalently:  min Σ ‖xᵢ − (xᵢ⊤ u) u‖²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160520"/>
            <a:ext cx="45720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9768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picks a unit direction u that maximizes projected variance — equivalently, minimizes reconstruction error. Standardize features first when units differ.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606040"/>
            <a:ext cx="5486400" cy="3520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7432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 =  (1, 1) / √2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 (3, 1)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· u  =  4 / √2  =  2 √2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projected back:  (x · u) · u  =  (2, 2)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5074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Geometric summary, not compression magic.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Look at the variance retained per component.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Method-family synthesis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per missing structure — read down the WARNING column.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97680"/>
                <a:gridCol w="4389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WARNING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Single tree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branching, readable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Unstable; small data shifts move root splits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Random forest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tabular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Weaker interpretation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Boosted trees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tuned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Overfits if pushed; tuning-sensitive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SVM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Wide-margin boundary in current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Won’t repair missing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Naive Bayes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features, limited data, transparent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Independence &amp; calibration must be 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k-NN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cases borrow labels under defended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IS the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Clustering / PCA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labels — want organization or summary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not truth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Every method has a price. The right question is which price is acceptable for THIS missing structure.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STRUCTURE BEYOND LINEARITY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Structural Diagnosis Sheet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defensible answer to “which family next?”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stated clearly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Baseline failure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linear model is getting wrong — and on which 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Structural hypothesis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logic · margin · class-conditional probability · local similarity · unlabelled organization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Candidate family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· ensemble · SVM · Naive Bayes · KNN · clustering · dim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Representation dependency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features / scaling rules matter for THIS family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Main risk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Instability · weak geometry · cluster overinterpretation · etc.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Evidence needed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validation or inspection result would justify moving beyond the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Interpretation boundary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method’s output does — and does NOT — justify claiming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Failure pattern to watch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kind of error would say even THIS family is not enough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Ch.1 framing → Ch.2 metric → Ch.2b evaluation → Ch.3 baseline sheet → Ch.4 structural diagnosis.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linear fails — name the missing structure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before picking a family.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model conditional logic; ensembles stabilize but inherit data bias.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SVMs pick the most defensible separator; Naive Bayes is generative.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KNN and k-Means, the SCALING is the model.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geometric summaries — not causal explanations.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warning column. Every method has a price.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4b — Designing the dataset itself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 — Optimization &amp; neural networks (learned feature maps)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 — Representation learning &amp; foundation models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failed linear baseline from a prior exercise and fill in all 8 rows of the Structural Diagnosis Sheet.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4: Structure Beyond Linearity</dc:title>
  <dc:subject>PptxGenJS Presentation</dc:subject>
  <dc:creator>Sam Urmian</dc:creator>
  <cp:lastModifiedBy>Sam Urmian</cp:lastModifiedBy>
  <cp:revision>1</cp:revision>
  <dcterms:created xsi:type="dcterms:W3CDTF">2026-05-16T22:49:37Z</dcterms:created>
  <dcterms:modified xsi:type="dcterms:W3CDTF">2026-05-16T22:49:37Z</dcterms:modified>
</cp:coreProperties>
</file>