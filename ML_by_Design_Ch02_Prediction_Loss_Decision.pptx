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</c:v>
                </c:pt>
              </c:strCache>
            </c:strRef>
          </c:tx>
          <c:spPr>
            <a:solidFill>
              <a:srgbClr val="E65100"/>
            </a:solidFill>
            <a:ln w="381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-2</c:v>
                  </c:pt>
                  <c:pt idx="1">
                    <c:v>-1</c:v>
                  </c:pt>
                  <c:pt idx="2">
                    <c:v>0</c:v>
                  </c:pt>
                  <c:pt idx="3">
                    <c:v>1</c:v>
                  </c:pt>
                  <c:pt idx="4">
                    <c:v>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0077B6"/>
            </a:solidFill>
            <a:ln w="3810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-2</c:v>
                  </c:pt>
                  <c:pt idx="1">
                    <c:v>-1</c:v>
                  </c:pt>
                  <c:pt idx="2">
                    <c:v>0</c:v>
                  </c:pt>
                  <c:pt idx="3">
                    <c:v>1</c:v>
                  </c:pt>
                  <c:pt idx="4">
                    <c:v>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 calibration</c:v>
                </c:pt>
              </c:strCache>
            </c:strRef>
          </c:tx>
          <c:spPr>
            <a:solidFill>
              <a:srgbClr val="475569"/>
            </a:solidFill>
            <a:ln w="38100" cap="flat">
              <a:solidFill>
                <a:srgbClr val="4755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 (overconfident)</c:v>
                </c:pt>
              </c:strCache>
            </c:strRef>
          </c:tx>
          <c:spPr>
            <a:solidFill>
              <a:srgbClr val="E65100"/>
            </a:solidFill>
            <a:ln w="381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0.05</c:v>
                </c:pt>
                <c:pt idx="1">
                  <c:v>0.18</c:v>
                </c:pt>
                <c:pt idx="2">
                  <c:v>0.32</c:v>
                </c:pt>
                <c:pt idx="3">
                  <c:v>0.5</c:v>
                </c:pt>
                <c:pt idx="4">
                  <c:v>0.65</c:v>
                </c:pt>
                <c:pt idx="5">
                  <c:v>0.78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2D5986"/>
                    </a:solidFill>
                    <a:latin typeface="Arial"/>
                  </a:rPr>
                  <a:t>predicted probability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2D5986"/>
                    </a:solidFill>
                    <a:latin typeface="Arial"/>
                  </a:rPr>
                  <a:t>observed frequency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2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Prediction, Loss, and Decision Rules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a framed task to judged behavior.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Five emails. That’s the budget.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five is a different problem from training the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5720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180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emails per week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for outreach to at-risk students.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is useful only relative to four things: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292608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Metric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quantity used to judge 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370332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3611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used to train 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448056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4389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Decision rule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4389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turns scores into actions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525780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35040" y="5166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1040" y="5166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by which scores count as probability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Losses are for learning. Metrics are for claims.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chapter’s judgment chain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does not become an operational signal until each link is named.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9468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468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 loss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28620" y="2697480"/>
            <a:ext cx="35661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58388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8388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score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17540" y="2697480"/>
            <a:ext cx="35661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47308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7308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reported metric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06460" y="2697480"/>
            <a:ext cx="35661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36228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6228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decision rule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58388" y="4526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EF2D6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8388" y="4526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confidence check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47308" y="4526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EF2D6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7308" y="4526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abstain or review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36228" y="4526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D2EEDC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6228" y="4526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operational signal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90308" y="3154680"/>
            <a:ext cx="0" cy="1371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79228" y="3154680"/>
            <a:ext cx="0" cy="1371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17540" y="4983480"/>
            <a:ext cx="356616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06460" y="4983480"/>
            <a:ext cx="356616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Separate the metric from the loss · choose the action rule that matches the decision · check whether the probabilities can be trusted.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chapter’s central separation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that sound similar — and behave very differently.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 LEARNING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stable penalties that let optimization gradients flow.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 during training. Chosen for differentiability and stability.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48640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03120"/>
            <a:ext cx="54864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880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 CLAIMS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36576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that match the decision, the review budget, and the action rule someone will defend.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after training. Chosen to express what success means.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you cannot say why the optimized quantity and the reported quantity differ — the worksheet is incomplete.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confusion matrix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 between predicted scores and thresholded claims.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0" y="2194560"/>
            <a:ext cx="5486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651760"/>
            <a:ext cx="2743200" cy="4114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2651760"/>
            <a:ext cx="2743200" cy="4114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063240"/>
            <a:ext cx="4572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063240"/>
            <a:ext cx="457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063240"/>
            <a:ext cx="2743200" cy="12801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063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4343400"/>
            <a:ext cx="2743200" cy="12801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343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0" y="3063240"/>
            <a:ext cx="2743200" cy="1280160"/>
          </a:xfrm>
          <a:prstGeom prst="rect">
            <a:avLst/>
          </a:prstGeom>
          <a:solidFill>
            <a:srgbClr val="D2EED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TP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true case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3063240"/>
            <a:ext cx="2743200" cy="1280160"/>
          </a:xfrm>
          <a:prstGeom prst="rect">
            <a:avLst/>
          </a:prstGeom>
          <a:solidFill>
            <a:srgbClr val="FED8D8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true case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4343400"/>
            <a:ext cx="2743200" cy="1280160"/>
          </a:xfrm>
          <a:prstGeom prst="rect">
            <a:avLst/>
          </a:prstGeom>
          <a:solidFill>
            <a:srgbClr val="FEF2D6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480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FP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11480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4343400"/>
            <a:ext cx="2743200" cy="1280160"/>
          </a:xfrm>
          <a:prstGeom prst="rect">
            <a:avLst/>
          </a:prstGeom>
          <a:solidFill>
            <a:srgbClr val="ECEFF1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480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46E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TN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5800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rejection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Once a threshold turns scores into yes/no, these four counts determine what the metric rewards.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Four metrics from those four counts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asks a different question about the system.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960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194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 + TN) / total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5516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correctness. Hides imbalance and asymmetric costs.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1277295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960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461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32461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5516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system says positive — how often is it right?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11277295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97680"/>
            <a:ext cx="54864" cy="960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976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4297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4297680"/>
            <a:ext cx="5516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truly positive cases — how many did it catch?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349240"/>
            <a:ext cx="11277295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349240"/>
            <a:ext cx="54864" cy="960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3492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34640" y="53492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P · R / (P + 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5349240"/>
            <a:ext cx="5516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 and R. Only sensible when both matter.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Pick the metric that matches the decision — not the one that's convenient.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accuracy can fail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negatives. 50 positives. A useless classifier that always predicts “negative.”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95%</a:t>
            </a:r>
            <a:endParaRPr lang="en-US" sz="130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accuracy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recall of exactly 0.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5394960" cy="1371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06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950 / 1000 = 95%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= 0,   FN = 50,   Recall = 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Accuracy rewards agreement with the majority. When the majority dominates, agreement is cheap — and the metric tells you nothing about the cases that matter.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Different decisions weight different mistakes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arithmetic — opposite emphasis.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Precision-sensitive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hurt: legitimate mail gets hidden or delayed. At Gmail scale, even a small FP rate affects many users.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Optimize the rate of false alarms.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5486400" cy="39319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03120"/>
            <a:ext cx="5486400" cy="548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SCREENING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Recall-sensitive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675120" y="3520440"/>
            <a:ext cx="109728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6576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hurt: a missed case may delay treatment. Rapid flu tests run with sensitivity 50–70% by design.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Optimize the rate of caught cases.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metric should reflect which mistake the team can least afford.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 loss ≠ reported metric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tasks. Two columns. Always different.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97680"/>
                <a:gridCol w="42062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Spam filtering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loss on spam probabilities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Precision, recall, FP behavior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Screening / triage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loss + extra penalty for misses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(sensitivity) + FP burden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Probability forecasts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loss rewarding honest 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Calibration, reliability plots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Ranking / retrieval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training loss over item scores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among top-k outputs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good worksheet should explain why the optimized and reported quantities are not identical.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Regression losses — MSE vs MAE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penalties prefer different notions of “center.”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0312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6751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CONSTANT PREDICTOR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2514600"/>
            <a:ext cx="5029200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2606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MSE → minimized by the </a:t>
            </a:r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MEAN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MAE → minimized by the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MEDIAN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675120" y="4206240"/>
            <a:ext cx="1371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4343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reacts strongly to outliers.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resists them.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universally better — choose the one whose misses the application can tolerate.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House prices: a $200K miss usually worse than two $100K misses → squared loss. Delivery delays: linear penalty is easier to justify.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Cross-entropy (log loss) — the classification workhorse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· differentiable · rewards honest probabilities.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ℓ(y, p) = −[ y log p  +  (1−y) log(1−p) ]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when the model gives high probability to the correct class — large (and unbounded) when it is confidently wrong.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351525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3515258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2336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0.99 on a TRUE NEGATIVE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 ≈ 4.61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" y="54406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wrong → heavy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8218" y="3840480"/>
            <a:ext cx="351525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8218" y="3840480"/>
            <a:ext cx="351525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5378" y="402336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0.50 (uncertain)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75378" y="4663440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 ≈ 0.69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75378" y="54406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→ moderate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19237" y="3840480"/>
            <a:ext cx="351525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9237" y="3840480"/>
            <a:ext cx="3515258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6397" y="402336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0.99 on a TRUE POSITIVE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56397" y="4663440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 ≈ 0.01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56397" y="54406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right → tiny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Log loss is a strictly proper scoring rule: the unique minimizer of expected loss is the true probability.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accuracy. Very different log loss.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classify all four examples correctly.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1965960"/>
                <a:gridCol w="1965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598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598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598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598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LOG LOSS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2743200"/>
            <a:ext cx="3712464" cy="777240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74320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CAUTIOUS  →  0.66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0" y="3749040"/>
            <a:ext cx="212141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8661" y="3749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CONFIDENT  →  0.02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100% ACCURACY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51663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 rewards confidently-correct probabilities, not merely correct labels. Accuracy can hide major differences in confidence.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 tradeoffs — three policies, same scores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stayed 0.75. Operating behavior changed completely.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  <a:gridCol w="1005840"/>
                <a:gridCol w="1188720"/>
                <a:gridCol w="1188720"/>
                <a:gridCol w="1188720"/>
                <a:gridCol w="11887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0.30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0.50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0.70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754880"/>
            <a:ext cx="4114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75488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Stricter threshold → higher precision, lower recall. Lenient → opposite. Accuracy alone can disguise both moves.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5577840"/>
            <a:ext cx="11277295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5577840"/>
            <a:ext cx="41148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557784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FREE DEBUGGING — force t=0 and t=1; check Recall, FPR, and base rate. Catches almost every off-by-one in a threshold sweep.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Cost-aware threshold rule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calibrated probability — the threshold moves with the cost ratio.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 = 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ctr" indent="0" marL="0">
              <a:buNone/>
            </a:pPr>
            <a:r>
              <a:rPr lang="en-US" sz="4000" b="1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( 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ctr" indent="0" marL="0">
              <a:buNone/>
            </a:pPr>
            <a:r>
              <a:rPr lang="en-US" sz="4000" b="1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ctr" indent="0" marL="0">
              <a:buNone/>
            </a:pPr>
            <a:r>
              <a:rPr lang="en-US" sz="4000" b="1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486400" cy="19202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069080"/>
            <a:ext cx="54864" cy="19202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ARE COSTLY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572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C_FN &gt; C_FP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5120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small t*  ·  more flags  ·  emphasize RECALL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4069080"/>
            <a:ext cx="5486400" cy="19202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069080"/>
            <a:ext cx="54864" cy="1920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ARE COSTLY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4572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C_FP &gt; C_FN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5120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large t*  ·  fewer flags  ·  emphasize PRECISION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Don’t ask which threshold maximizes a generic metric until you know what FP, FN, and abstention cost in the workflow.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scores. Different costs. Threshold flips.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never changed. Only the consequence model did.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80160"/>
                <a:gridCol w="3291840"/>
                <a:gridCol w="3108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FN is severe (1, 6)  ✓ WINNER row highlighted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FP is severe (5, 1)  ✓ WINNER row highlighted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0.30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0.50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0.70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66344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754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 choice is a POLICY choice — not a universal mathematical truth.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· same ranking · same predictions. Only the cost matrix changed — and the winning threshold reversed.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misses cost 6× a false alarm, t = 0.30 wins. If false alarms cost 5× a miss, t = 0.70 wins.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Ranking under a fixed budget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capacity is part of the problem — top-k wins.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554480"/>
                <a:gridCol w="1280160"/>
                <a:gridCol w="4937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budget? (5 staff hours)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0.30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overloads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0.50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— still too many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 = 0.70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leaves capacity unused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Top-5 ranked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exactly within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 rules answer “act or not?” — ranking rules answer “how good is the short list staff will actually see?”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5989320"/>
            <a:ext cx="4114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989320"/>
            <a:ext cx="11048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Ranking policies become natural when the intervention budget is fixed in advance.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Top-k &amp; retrieval metrics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only sees the top of the list.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1525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15258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1460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278373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items in top 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———————————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57629" y="502920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6636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clean is the exposed list?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38218" y="2194560"/>
            <a:ext cx="351525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8218" y="2194560"/>
            <a:ext cx="3515258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5378" y="251460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3978" y="3108960"/>
            <a:ext cx="278373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3978" y="3108960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items in top 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——————————————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relevant items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38648" y="502920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1098" y="516636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much of the useful material did we capture?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19237" y="2194560"/>
            <a:ext cx="351525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9237" y="2194560"/>
            <a:ext cx="3515258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6397" y="251460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84997" y="3108960"/>
            <a:ext cx="278373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84997" y="3108960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rank of first relevant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19666" y="502920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2117" y="516636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soon does the first useful item appear?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worked example — 5 returned, first relevant at rank 2, 2 of 5 relevant, 3 in collection:  P@5 = 0.40 · R@5 ≈ 0.67 · RR = 0.50.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Abstain &amp; review — “predict, but do not act automatically”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best policy is a deferral.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3616452" cy="822960"/>
          </a:xfrm>
          <a:prstGeom prst="rect">
            <a:avLst/>
          </a:prstGeom>
          <a:solidFill>
            <a:srgbClr val="D2EED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0852" y="2743200"/>
            <a:ext cx="3099816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0668" y="2743200"/>
            <a:ext cx="3616452" cy="822960"/>
          </a:xfrm>
          <a:prstGeom prst="rect">
            <a:avLst/>
          </a:prstGeom>
          <a:solidFill>
            <a:srgbClr val="FED8D8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36164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(auto-approve)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30852" y="274320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  →  human review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0668" y="2743200"/>
            <a:ext cx="36164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(auto-reject)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10332720" cy="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1188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30852" y="361188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2252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30668" y="361188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2068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247120" y="3611880"/>
            <a:ext cx="0" cy="109728"/>
          </a:xfrm>
          <a:prstGeom prst="line">
            <a:avLst/>
          </a:prstGeom>
          <a:noFill/>
          <a:ln w="9525">
            <a:solidFill>
              <a:srgbClr val="1F2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18520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score / probability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663440"/>
            <a:ext cx="4114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1663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Higher-risk cases get higher scores.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07738" y="466344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663440"/>
            <a:ext cx="4114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8006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Stated probabilities behave like honest probabilities.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58277" y="466344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8277" y="4663440"/>
            <a:ext cx="4114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1157" y="48006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41157" y="51663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Defer cases the system shouldn't decide alone.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can rank cases well enough for prioritization yet remain too overconfident for full automation.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ROC curves vs Precision–Recall curves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summaries of operating-point families.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3832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TPR vs FPR across thresholds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when the false-positive rate is central. Can look deceptively healthy when positives are rare — the huge negative class dominates FPR's denominator.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33832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Precision vs Recall across thresholds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3611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informative when positives are rare and precision matters directly. Shows the false-positive burden through precision.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760720"/>
            <a:ext cx="41148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76072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Both summarize FAMILIES of operating points — not single operating points. Always pair with metrics at the threshold the team will actually use.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Calibration — does 0.8 mean 80%?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probabilities drive decisions, the numbers themselves need to be honest.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is WELL CALIBRATED if events predicted with probability 0.8 occur about 80% of the time.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54864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Σ (p_i − y_i)²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scalar summary — lower is better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840480"/>
            <a:ext cx="54864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(n_m / n) | p̄_m − ȳ_m |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size-weighted average gap across bins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Modern neural networks can be highly accurate AND systematically overconfident. Accuracy is one claim; calibration is another.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reliability diagram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 (x) vs observed frequency (y). The diagonal is perfect.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031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58952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520" y="2514600"/>
            <a:ext cx="4114800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2514600"/>
            <a:ext cx="54864" cy="3200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2606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diagonal
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under-confident
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diagonal
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honest probabilities
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diagonal
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overconfident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Discrimination and calibration are related — but they are not the same claim.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Precision moves when prevalence moves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Same threshold. Different semester.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HIGH-PREVALENCE SEMESTER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50% precision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228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LOW-PREVALENCE SEMESTER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25% precision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 =  π r  /  (π r  +  (1 − π) f)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= prevalence (base rate)    ·    r = true-positive rate    ·    f = false-positive 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precision drops unexpectedly, ask first whether the base rate changed — new term, new market, new device mix, new triage policy.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PREDICTION, LOSS, AND DECISION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the Metric &amp; Action Worksheet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policy explicit before the workflow hardens around a vague score.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Worksheet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written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context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real action the prediction supports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Primary metric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main quantity for the 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Supporting metrics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Imbalance, calibration, and other tradeoffs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Action type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· top-k · forecast · abstain-to-review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Threshold / ranking policy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scores become action under cost &amp; capacity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Selection protocol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held-out role chooses what, and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Calibration need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the score behave like an honest probability?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Abstention rule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cases should be deferred to human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Ch.1’s framing memo says WHAT the problem is. Ch.2’s worksheet says HOW success will be judged and operationalized.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Losses are for learning.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Metrics — and policies — are for claims.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training loss from reported metric.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metric that matches the decision.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threshold (or top-k) a policy choice tied to cost &amp; capacity.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calibration when probabilities drive action.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system to abstain — full automation is not always the goal.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2b — Generalization, leakage, and evaluation discipline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Linear models as the first credible baseline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 — Dataset design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Metric &amp; Action Worksheet for your running case (the same case you framed in Ch. 1).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2: Prediction, Loss, and Decision Rules</dc:title>
  <dc:subject>PptxGenJS Presentation</dc:subject>
  <dc:creator>Sam Urmian</dc:creator>
  <cp:lastModifiedBy>Sam Urmian</cp:lastModifiedBy>
  <cp:revision>1</cp:revision>
  <dcterms:created xsi:type="dcterms:W3CDTF">2026-05-16T20:03:15Z</dcterms:created>
  <dcterms:modified xsi:type="dcterms:W3CDTF">2026-05-16T20:03:15Z</dcterms:modified>
</cp:coreProperties>
</file>