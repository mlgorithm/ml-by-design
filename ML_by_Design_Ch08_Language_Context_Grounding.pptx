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8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Language: Context &amp; Grounding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bag-of-words to retrieval-augmented assistants.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messages — two systems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words can demand very different system behavior.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7432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“it's not working.”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0" y="406908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06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words. No context. Unclear urgency.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27432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“It's not working — my server keeps timing out on submission. Help, please.”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95360" y="40690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206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failure. Acted-on object. Stated urgency.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303520"/>
            <a:ext cx="11277295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03520"/>
            <a:ext cx="11277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keyword baseline scores these as nearly identical. A context-aware system does not.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Running case — a grounded course-support assistant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words ≠ same meaning. Same meaning ≠ same words.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5603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"I missed Lab 3 because I was sick. Can I submit tonight?"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51760" y="4069080"/>
            <a:ext cx="10972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ANSWER  (deadline / extension policy)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5486400" cy="25603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788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"I missed the lab. Does that affect my visa attendance record?"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03920" y="4069080"/>
            <a:ext cx="109728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ESCALATE  (advising · sensitive)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11277295" cy="13716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120640"/>
            <a:ext cx="41148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16636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Almost identical lexical surface — completely different correct behavior.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562356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chapter chases what makes that difference visible to the system.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five stops on the way to a grounded assistant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phases: lexical → contextual → behavior.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Context audit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structure must survive?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Lexical baselines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· BoW · n-grams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Contextual rep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· attention · transformers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Behavior design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· prompt · fine-tune · RAG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Grounding &amp; audit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· evaluation · the card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Context audit — what structure must survive?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BEFORE picking a model.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Tokenization decides what the model is ALLOWED TO NOTICE and reuse.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637178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61188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337560"/>
            <a:ext cx="27227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Token presence?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77258" y="3337560"/>
            <a:ext cx="3637178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5858" y="361188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5858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54498" y="3337560"/>
            <a:ext cx="27227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Local order?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7317" y="3337560"/>
            <a:ext cx="3637178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5917" y="361188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5917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74557" y="3337560"/>
            <a:ext cx="27227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Long-range context?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3637178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70916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434840"/>
            <a:ext cx="27227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External knowledge?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77258" y="4434840"/>
            <a:ext cx="3637178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05858" y="470916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5858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54498" y="4434840"/>
            <a:ext cx="27227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Dialect or register?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97317" y="4434840"/>
            <a:ext cx="3637178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5917" y="470916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5917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74557" y="4434840"/>
            <a:ext cx="27227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Required output shape?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Simplest baseline first. Escalate ONLY when the audit demands.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message · several NLP jobs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slot reading · retrieval · decision · response.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2328" y="27432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328" y="2743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ROUTING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66848" y="338328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86888" y="27432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6888" y="2743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SLOT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61408" y="338328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81448" y="27432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1448" y="2743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RETRIEVE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POLICY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55968" y="338328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76008" y="27432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6008" y="2743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DECIDE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50528" y="338328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70568" y="27432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70568" y="2743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ANSWER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or ESCALATE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11277295" cy="18745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572000"/>
            <a:ext cx="41148" cy="1874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61772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EXAMPLE — “I missed Lab 3 because I was sick.”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029200"/>
            <a:ext cx="11048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 →  deadline / extension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 →  Lab 3 · illness · tonight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 →  syllabus passages on late submission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 →  answer directly OR escalate to instructor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→  grounded reply  +  citation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Tokenization is a modeling CHOICE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subword · character — each changes what the model can reuse.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10896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“unbelievable”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88109" y="361188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Easy interpretation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Large vocabulary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OOV is harsh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(BPE)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0618" y="288036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“un” + “believable”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38648" y="36118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37490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Compact vocab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Good OOV behaviour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Merge rules trainable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1089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41157" y="288036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“u·n·b·e·l·i·e·v·a·b·l·e”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89186" y="361188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37490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Smallest vocab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Long sequences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Reuse minimal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5321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micro-example — corpus {low×5, lower×2, newest×6, widest×3} → first merge (e,s) → “es” → next (es,t) → “est.”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Bag-of-words baseline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presence · no order.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∈  ℝᵛ           xⱼ  =  count of token j  (or presence indicator)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5486400" cy="24688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BoW SHINES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434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Routing on words like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“deadline” · “extension” · “autograder”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Text classification on long documents.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486400" cy="246888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74904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BoW FAILS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3434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Who acted on whom · negation · word sense.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“dog bites man”  ≡  “man bites dog”  in unigrams.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N-grams repair local order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short-range fix BEFORE escalating model family.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1089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  (BoW)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x_uni( dog bites man )  =  ( 1 , 1 , 1 )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x_uni( man bites dog )  =  ( 1 , 1 , 1 )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IDENTICAL.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803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x_bi(  dog bites man )  =  ( 1 , 1 , 0 , 0 )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x_bi(  man bites dog )  =  ( 0 , 0 , 1 , 1 )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Heuristic — if missing context is LOCAL, fix the representation first. Don't reach for a deeper model.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static to CONTEXTUAL embeddings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 per token  vs  one vector per token-in-context.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918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EMBEDDING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“bank approved the loan”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“river reached the bank”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34340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80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to ONE vector for “bank.”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2918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surface word — DIFFERENT vector per context.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434340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480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Course-support analogue: “extension” = deadline · visa · phone.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contextual representation computes MEANING INSIDE a sentence.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Attention — each token reads from every other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in sequence length.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 K, V)  =  softmax(  Q K⊤ / √d_k  )  V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486400" cy="22860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4048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40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COMBINATION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Each output row = weighted sum of values.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Weights sum to 1, nonnegative.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840480"/>
            <a:ext cx="5486400" cy="22860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840480"/>
            <a:ext cx="54864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840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5720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O(T² · d)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Context length is the bottleneck.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 · FlashAttention · linear-time alternatives — engineering responses to the quadratic regime.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Transformers in NLP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attention-based pretraining took over.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1089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3576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3301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321045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Selective context replaces a single moving recurrent state.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compression bottleneck.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31089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7738" y="2423160"/>
            <a:ext cx="3576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44898" y="3154680"/>
            <a:ext cx="3301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+ POSITION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0618" y="3703320"/>
            <a:ext cx="321045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Multiple parallel attentions.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Positional encoding restores order.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31089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8277" y="2423160"/>
            <a:ext cx="3576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295437" y="3154680"/>
            <a:ext cx="3301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41157" y="3703320"/>
            <a:ext cx="321045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Made contextual representation learning SCALABLE and REUSABLE.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(BERT · GPT · T5 lineage.)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48640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2017 · Devlin 2019. RNN/LSTM as historical context-builders that exposed the compression limit.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Language modeling — sequence prediction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· NLL · perplexity.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w₁, …, w_T )  =  P(w₁) · Π_{t≥2}  P( w_t | w_&lt;t 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NLL  =  −(1/T)  Σ log p_t            Perplexity  =  exp(NLL)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1277295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840480"/>
            <a:ext cx="4114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Bigram example — P(approved | bank)  =  6 / 10  =  0.6   (corpus: approved ×6 · loan ×1 · closed ×3).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11277295" cy="1508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937760"/>
            <a:ext cx="41148" cy="1508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98348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IS A NEXT-TOKEN MEASURE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349240"/>
            <a:ext cx="11048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Not factuality.  Not grounding.  Only comparable when tokenization is HELD FIXED.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Encoder–decoder — conditional sequence mapping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· summarization · fluent ≠ faithful.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y | x )  =  Π_t  P( y_t | y_&lt;t , x 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5486400" cy="24688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2044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"The student missed the lab because of illness."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"Der Student verpasste das Labor wegen Krankheit."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520440"/>
            <a:ext cx="5486400" cy="246888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52044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TRAP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114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Source:  "...only after an extension form within 48 hours."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"Illness always allows late work."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Fluency  ≠  faithfulness. Summaries can drop the operational clause that mattered.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Pretrain → fine-tune → align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of behavior shaping.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3728" y="25603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72488" y="2240280"/>
            <a:ext cx="457200" cy="4572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248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6608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2328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Unlabeled text → general language structure.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84168" y="356616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58488" y="25603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67248" y="2240280"/>
            <a:ext cx="457200" cy="4572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6724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41368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FINE-TUNING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87088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(instruction, response) pairs → request-following.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78928" y="356616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53248" y="25603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62008" y="2240280"/>
            <a:ext cx="457200" cy="4572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6200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36128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ALIGNMENT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81848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Preferred vs less-preferred → helpful, honest, bounded.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11277295" cy="14173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029200"/>
            <a:ext cx="4114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07492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Architecture unchanged across all three. What SHIFTS is which continuation is rewarded.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Christiano 2017 · Ouyang 2022 · Rafailov 2023 (DPO).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Prompting — inference-time behavior interface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unchanged. Input shapes behavior.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15544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Changes PARAMETERS.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model.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5486400" cy="15544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Changes INPUT.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weights · new framing.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  (not a ladder)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3576218" cy="10972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4340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526280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9377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instruction only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07738" y="4343400"/>
            <a:ext cx="3576218" cy="10972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07738" y="434340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4898" y="4526280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90618" y="49377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instruction + examples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58277" y="4343400"/>
            <a:ext cx="3576218" cy="10972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8277" y="434340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5437" y="4526280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41157" y="49377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instruction + reasoning structure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Wrong question — “What is the best prompt?”  Better — “What info does the model need to behave reliably under realistic variation?”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Decoding shapes behavior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· different output policy.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   ·   temperature   ·   top-k   ·   top-p (nucleus)   ·   beam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77295" cy="15544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00400"/>
            <a:ext cx="41148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4612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“deadline for…”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11048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  →  “…final project submission.”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0.7  →  “…midterm essay resubmission.”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1.5  →  “…portfolio review and pizza order.”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11277295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937760"/>
            <a:ext cx="41148" cy="1508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98348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349240"/>
            <a:ext cx="11048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Grounded answers — LOW temperature + top-p.    Translation — greedy or beam.    Creative writing — higher T + top-p.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Retrieval-augmented generation (RAG)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evidence to the prompt BEFORE generating.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2328" y="27432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328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CHUNK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66848" y="32461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86888" y="27432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6888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INDEX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61408" y="32461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81448" y="27432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1448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55968" y="32461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76008" y="27432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6008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RERANK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0528" y="32461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70568" y="27432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5E9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70568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GROUNDED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ANSWER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5486400" cy="15087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6052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CLAIM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“Given THIS retrieved passage — the answer is X.”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09360" y="4160520"/>
            <a:ext cx="5486400" cy="150876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416052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CLAIM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46634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“The model knows X.”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58978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Lewis 2020. Many “language” failures are RETRIEVAL failures upstream.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Grounding &amp; the retrieval contract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properties · each fails differently.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01488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Addresses the actual question.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wrong rule.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2194560"/>
            <a:ext cx="5501488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2194560"/>
            <a:ext cx="54864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5888" y="233172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5888" y="274320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Org will stand behind the source.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5888" y="338328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low-trust page.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5501488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60520"/>
            <a:ext cx="54864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9768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Current for THIS term / version.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last term's policy.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33008" y="4160520"/>
            <a:ext cx="5501488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3008" y="4160520"/>
            <a:ext cx="54864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5888" y="429768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15888" y="470916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Includes conditions, exceptions, escalation.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15888" y="534924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missing clause.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Chunking decisions ripple all the way into the final answer.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Hallucination is not ONE thing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 types · four different fixes.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9319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1C1C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FABRICATION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content without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Abstain · retrieve again · escalate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1C1C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WRONG SYNTHESIS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evidence · wrong combination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 explicitly · simplify · route to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1C1C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STALE EVIDENCE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Outdated retrieved facts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 checks · require current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1C1C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OVERCONFIDENT UNCERTAINTY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 answer where it shouldn't 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 · ask follow-up · escalate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Don't stop at “the model hallucinated.” Name the type — then pick the matching fix.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Evaluation matched to task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judgment must match the OUTPUT shape.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046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Classification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· precision · recall · F1 · slices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Sequence labelling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/ span F1 · exact 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Retrieval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 · MRR · nDCG · authority / freshness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Grounded QA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· retrieval success · abstention on weak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Generation / MT / summary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 / ROUGE  +  human review · factuality · hallucination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3492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 worked example — list [0,1,0,1]:  P@2 = 1/2  ·  R@4 = 2/3  ·  RR = 1/2.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Perplexity is ONE number. It does not measure factuality.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NLP Context &amp; Grounding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fields · the deliverable for any language system.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documented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Task type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· QA · retrieval · generation ·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Output type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· span · ranked list · grounded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Unit of evaluation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metric is computed 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Representation choice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 · n-gram · contextual ·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Grounding requirement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evidence required? from where? how fresh?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Adaptation strategy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· RAG · fine-tuning · alignment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Decoding policy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· top-p · beam · 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Escalation rule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cases NEVER auto-respond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Primary evidence &amp; coverage risks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proves it works · what could be missed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8978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example — course-support: QA-with-retrieval · escalate visa / accommodations / harassment / self-harm · low T · top-p.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·  LANGUAGE: CONTEXT &amp; GROUNDING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students and teams over-trust language systems.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194560"/>
            <a:ext cx="10408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Declaring classical methods dead when SPARSE BASELINES fit the task.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11277295" cy="62179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62072"/>
            <a:ext cx="54864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6207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10408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Treating FLUENCY as TRUTH.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1127729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9584"/>
            <a:ext cx="54864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2958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3529584"/>
            <a:ext cx="10408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Ignoring TOKENIZATION (different tokenizers → incomparable perplexities).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97096"/>
            <a:ext cx="11277295" cy="62179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97096"/>
            <a:ext cx="54864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9709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5880" y="4197096"/>
            <a:ext cx="10408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Conflating BASE LM with INSTRUCTION-FOLLOWING LM.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1127729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864608"/>
            <a:ext cx="54864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86460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864608"/>
            <a:ext cx="10408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Iterating on PROMPTS when the task actually needs a parameter change.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532120"/>
            <a:ext cx="11277295" cy="62179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532120"/>
            <a:ext cx="54864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53212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25880" y="5532120"/>
            <a:ext cx="10408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Using “HALLUCINATION” as one blunt label for four distinct failures.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217920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mistake is a failure to keep the LANGUAGE SYSTEM and its EVIDENCE CONTRACT visible.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Meaning lives in CONTEXT.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Trust lives in GROUNDED EVIDENCE.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audit BEFORE architecture choice.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smallest rung that preserves the needed structure.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changes the CLAIM. Grounding makes it auditable.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· abstention · escalation are first-class behaviors.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a FAMILY of failures — not one phenomenon.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 — Sequential &amp; structured data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9a — Ranking &amp; exposure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 — Reliability: bounded-failure for grounded systems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TF-IDF retriever + grounding threshold for 5 hand-written passages. Report abstention rate, top-1 accuracy, and the τ that flips behavior.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8: Language</dc:title>
  <dc:subject>PptxGenJS Presentation</dc:subject>
  <dc:creator>Sam Urmian</dc:creator>
  <cp:lastModifiedBy>Sam Urmian</cp:lastModifiedBy>
  <cp:revision>1</cp:revision>
  <dcterms:created xsi:type="dcterms:W3CDTF">2026-05-17T11:58:07Z</dcterms:created>
  <dcterms:modified xsi:type="dcterms:W3CDTF">2026-05-17T11:58:07Z</dcterms:modified>
</cp:coreProperties>
</file>