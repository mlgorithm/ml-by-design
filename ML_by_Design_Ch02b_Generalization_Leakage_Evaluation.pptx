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0077B6"/>
            </a:solidFill>
            <a:ln w="31750" cap="flat">
              <a:solidFill>
                <a:srgbClr val="0077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7B6"/>
              </a:solidFill>
              <a:ln w="9525" cap="flat">
                <a:solidFill>
                  <a:srgbClr val="0077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</c:v>
                </c:pt>
                <c:pt idx="1">
                  <c:v>1.6</c:v>
                </c:pt>
                <c:pt idx="2">
                  <c:v>1.45</c:v>
                </c:pt>
                <c:pt idx="3">
                  <c:v>1.35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solidFill>
              <a:srgbClr val="E65100"/>
            </a:solidFill>
            <a:ln w="31750" cap="flat">
              <a:solidFill>
                <a:srgbClr val="E65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1.9</c:v>
                </c:pt>
                <c:pt idx="1">
                  <c:v>1.7</c:v>
                </c:pt>
                <c:pt idx="2">
                  <c:v>1.6</c:v>
                </c:pt>
                <c:pt idx="3">
                  <c:v>1.5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6350" cap="flat">
              <a:solidFill>
                <a:srgbClr val="CBD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0077B6"/>
            </a:solidFill>
            <a:ln w="31750" cap="flat">
              <a:solidFill>
                <a:srgbClr val="0077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7B6"/>
              </a:solidFill>
              <a:ln w="9525" cap="flat">
                <a:solidFill>
                  <a:srgbClr val="0077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</c:v>
                </c:pt>
                <c:pt idx="1">
                  <c:v>1.2</c:v>
                </c:pt>
                <c:pt idx="2">
                  <c:v>0.8</c:v>
                </c:pt>
                <c:pt idx="3">
                  <c:v>0.6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solidFill>
              <a:srgbClr val="E65100"/>
            </a:solidFill>
            <a:ln w="31750" cap="flat">
              <a:solidFill>
                <a:srgbClr val="E65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1.9</c:v>
                </c:pt>
                <c:pt idx="1">
                  <c:v>1.3</c:v>
                </c:pt>
                <c:pt idx="2">
                  <c:v>0.95</c:v>
                </c:pt>
                <c:pt idx="3">
                  <c:v>0.72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6350" cap="flat">
              <a:solidFill>
                <a:srgbClr val="CBD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0077B6"/>
            </a:solidFill>
            <a:ln w="31750" cap="flat">
              <a:solidFill>
                <a:srgbClr val="0077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7B6"/>
              </a:solidFill>
              <a:ln w="9525" cap="flat">
                <a:solidFill>
                  <a:srgbClr val="0077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</c:v>
                </c:pt>
                <c:pt idx="1">
                  <c:v>1</c:v>
                </c:pt>
                <c:pt idx="2">
                  <c:v>0.45</c:v>
                </c:pt>
                <c:pt idx="3">
                  <c:v>0.18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solidFill>
              <a:srgbClr val="E65100"/>
            </a:solidFill>
            <a:ln w="31750" cap="flat">
              <a:solidFill>
                <a:srgbClr val="E65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1.9</c:v>
                </c:pt>
                <c:pt idx="1">
                  <c:v>1.2</c:v>
                </c:pt>
                <c:pt idx="2">
                  <c:v>0.95</c:v>
                </c:pt>
                <c:pt idx="3">
                  <c:v>1.1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6350" cap="flat">
              <a:solidFill>
                <a:srgbClr val="CBD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2b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Generalization, Leakage, and Evaluation Discipline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does a number deserve to be believed?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0.91 AUC. One question. The number collapses.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changed? Nothing about the model. Everything about the split.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120640" cy="39319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512064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0.91</a:t>
            </a:r>
            <a:endParaRPr lang="en-US" sz="14000" dirty="0"/>
          </a:p>
        </p:txBody>
      </p:sp>
      <p:sp>
        <p:nvSpPr>
          <p:cNvPr id="12" name="Text 10"/>
          <p:cNvSpPr/>
          <p:nvPr/>
        </p:nvSpPr>
        <p:spPr>
          <a:xfrm>
            <a:off x="457200" y="4937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AUC on the test set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5394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row sampling — students appeared in both splits)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4069080"/>
            <a:ext cx="640080" cy="0"/>
          </a:xfrm>
          <a:prstGeom prst="line">
            <a:avLst/>
          </a:prstGeom>
          <a:noFill/>
          <a:ln w="508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83680" y="2103120"/>
            <a:ext cx="5120640" cy="39319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2103120"/>
            <a:ext cx="512064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26974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0.74</a:t>
            </a:r>
            <a:endParaRPr lang="en-US" sz="14000" dirty="0"/>
          </a:p>
        </p:txBody>
      </p:sp>
      <p:sp>
        <p:nvSpPr>
          <p:cNvPr id="19" name="Text 17"/>
          <p:cNvSpPr/>
          <p:nvPr/>
        </p:nvSpPr>
        <p:spPr>
          <a:xfrm>
            <a:off x="6583680" y="4937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after splitting BY STUDENT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5394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 had been graded on people it had already seen)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Strong numbers can reflect real learning — or leakage, weak baselines, unstable splits, or test-set drift.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 — six safeguards on the claim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turns a sceptical question into a procedural habit.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Generalization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result survive new data?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0618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90618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Protected workflow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90618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discipline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1157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41157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Cross-validation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41157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is limited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Leakage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experiments lie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7738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7738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490618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Baseline ladder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490618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added value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58277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58277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1157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341157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Evaluation plan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341157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claim writeable in one page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Generalization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result survive new data?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73152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108200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Generalization is the ability of a model to maintain good performance on unseen examples drawn from the same underlying problem as the training data.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5486400" cy="22860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794760"/>
            <a:ext cx="54864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94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434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simple, too restricted, too poorly trained to capture even the main patterns.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5440680"/>
            <a:ext cx="109728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565C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Both training and validation error stay high.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794760"/>
            <a:ext cx="5486400" cy="22860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794760"/>
            <a:ext cx="5486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794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4434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training data too closely — noise and accidental details included.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0" y="5440680"/>
            <a:ext cx="109728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5577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Training error falls; validation error turns upward.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Generalization gap = training performance − held-out performance. Large gap → memorization, not learning.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regimes — three shapes of error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training loop fails in three different ways.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94360" y="2743200"/>
          <a:ext cx="3301898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594360" y="5074920"/>
            <a:ext cx="3301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Both curves stay high.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07738" y="2194560"/>
            <a:ext cx="3576218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FIT</a:t>
            </a:r>
            <a:endParaRPr lang="en-US" sz="13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4444898" y="2743200"/>
          <a:ext cx="3301898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4444898" y="5074920"/>
            <a:ext cx="3301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Both fall together — small gap.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58277" y="2194560"/>
            <a:ext cx="3576218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300" dirty="0"/>
          </a:p>
        </p:txBody>
      </p:sp>
      <p:graphicFrame>
        <p:nvGraphicFramePr>
          <p:cNvPr id="21" name="Chart 2" descr=""/>
          <p:cNvGraphicFramePr/>
          <p:nvPr/>
        </p:nvGraphicFramePr>
        <p:xfrm>
          <a:off x="8295437" y="2743200"/>
          <a:ext cx="3301898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Text 17"/>
          <p:cNvSpPr/>
          <p:nvPr/>
        </p:nvSpPr>
        <p:spPr>
          <a:xfrm>
            <a:off x="8295437" y="5074920"/>
            <a:ext cx="3301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Training falls. Validation turns up.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Bias–variance: total error = bias² + variance + noise. Underfitting is bias-dominant; overfitting is variance-dominant.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Bias–Variance decomposition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 and overfitting have a precise mathematical reading.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SQUARED ERROR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E[(y − f̂(x))²]  =  bias²  +  variance  +  noise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3576218" cy="21031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931920"/>
            <a:ext cx="54864" cy="2103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6908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52628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systematic miss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502920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class too restricted to represent the truth.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07738" y="3931920"/>
            <a:ext cx="3576218" cy="21031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07738" y="3931920"/>
            <a:ext cx="54864" cy="21031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6338" y="406908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36338" y="452628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sample sensitivity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36338" y="502920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fluctuates with the training sample.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58277" y="3931920"/>
            <a:ext cx="3576218" cy="2103120"/>
          </a:xfrm>
          <a:prstGeom prst="rect">
            <a:avLst/>
          </a:prstGeom>
          <a:solidFill>
            <a:srgbClr val="ECEFF1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8277" y="3931920"/>
            <a:ext cx="54864" cy="210312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6877" y="406908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6877" y="452628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irreducible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86877" y="502920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model can predict — σ² of y given x.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Reducing one usually requires accepting a little of the other.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protected evaluation workflow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matter — but the ORDER in which they are used matters even more.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E8F4FD"/>
          </a:solidFill>
          <a:ln w="1524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Raw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2743200"/>
            <a:ext cx="731520" cy="0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06240" y="228600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Split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FIRST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2743200"/>
            <a:ext cx="731520" cy="0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0" y="228600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Fit preprocessing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 TRAIN ONLY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448056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480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 candidate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models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83280" y="4937760"/>
            <a:ext cx="731520" cy="0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206240" y="448056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1524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4480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Choose using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75120" y="4937760"/>
            <a:ext cx="731520" cy="0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98080" y="448056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EDE0FA"/>
          </a:solidFill>
          <a:ln w="1524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4480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Touch TEST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once — at end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94960" y="3200400"/>
            <a:ext cx="0" cy="128016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686800" y="3200400"/>
            <a:ext cx="0" cy="-18288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3504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same transform</a:t>
            </a:r>
            <a:endParaRPr lang="en-US" sz="1000" dirty="0"/>
          </a:p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val &amp; test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Once information crosses from held-out evidence back into development, the claim is weaker — even when the code runs cleanly.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 · Validation · Test — three roles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type. Three very different jobs.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15258" cy="384048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15258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fits parameters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66189" y="3657600"/>
            <a:ext cx="109728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adjusts weights here. Used as often as needed.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38218" y="2194560"/>
            <a:ext cx="3515258" cy="384048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2194560"/>
            <a:ext cx="3515258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38218" y="219456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2538" y="297180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chooses settings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547208" y="3657600"/>
            <a:ext cx="109728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2538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Threshold, regularization, model family, stopping point, calibration method.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19237" y="2194560"/>
            <a:ext cx="3515258" cy="3840480"/>
          </a:xfrm>
          <a:prstGeom prst="rect">
            <a:avLst/>
          </a:prstGeom>
          <a:solidFill>
            <a:srgbClr val="EDE0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9237" y="2194560"/>
            <a:ext cx="3515258" cy="548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9237" y="219456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93557" y="297180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reports the claim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8226" y="3657600"/>
            <a:ext cx="1097280" cy="0"/>
          </a:xfrm>
          <a:prstGeom prst="line">
            <a:avLst/>
          </a:prstGeom>
          <a:noFill/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93557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Touched ONCE — after the important choices are frozen.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test results influence any choice — the test set stops being external evidence.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Leakage — broken boundary in one line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FIRST. Fit preprocessing on train. Apply to val and test.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0" cy="3474720"/>
          </a:xfrm>
          <a:prstGeom prst="rect">
            <a:avLst/>
          </a:prstGeom>
          <a:solidFill>
            <a:srgbClr val="FED8D8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548640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PIPELINE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Statistics computed over ALL examples,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including the future test cases.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scaled_all = scale(raw_data)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train, test = split(scaled_all)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103120"/>
            <a:ext cx="5486400" cy="3474720"/>
          </a:xfrm>
          <a:prstGeom prst="rect">
            <a:avLst/>
          </a:prstGeom>
          <a:solidFill>
            <a:srgbClr val="D2EED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0312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PIPELINE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7432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Split FIRST, learn the scaler from train only.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train, test = split(raw_data)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fit_scaler(train)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  = scaler.transform(train)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   = scaler.transform(test)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760720"/>
            <a:ext cx="11277295" cy="777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7607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forms:  normalize-before-split  ·  feature-select-before-split  ·  duplicate cases  ·  future info leaks in  ·  test-set tuning loop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Why a larger untouched test set matters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Hoeffding bound — the formal reason peeking destroys interpretation.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EVALUATION BOUND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 | Z̄ − E[Z̄] |  ≥  ε )   ≤   2 · exp( −2 n ε² )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3576218" cy="21031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931920"/>
            <a:ext cx="3576218" cy="640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160520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709160"/>
            <a:ext cx="3301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0.27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5440680"/>
            <a:ext cx="3301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0.10 — noisy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07738" y="3931920"/>
            <a:ext cx="3576218" cy="21031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07738" y="3931920"/>
            <a:ext cx="3576218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4898" y="4160520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44898" y="4709160"/>
            <a:ext cx="3301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0.0000000041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44898" y="5440680"/>
            <a:ext cx="3301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0.10 — tight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58277" y="3931920"/>
            <a:ext cx="3576218" cy="21031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8277" y="3931920"/>
            <a:ext cx="3576218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5437" y="4160520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reusing the test set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95437" y="4709160"/>
            <a:ext cx="3301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bound at all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95437" y="5440680"/>
            <a:ext cx="3301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IID assumption breaks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Larger UNTOUCHED test sets give tighter estimates. Repeatedly peeking at the same hold-out destroys that guarantee.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decision policy IS part of model selection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Threshold, calibration, regularization — all chosen on validation, not test.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15258" cy="246888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15258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0.40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✗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143000" y="2834640"/>
            <a:ext cx="2646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catches more positives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70332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review capacity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38218" y="2194560"/>
            <a:ext cx="3515258" cy="246888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2194560"/>
            <a:ext cx="3515258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38218" y="21945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0.55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75378" y="28346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024018" y="2834640"/>
            <a:ext cx="2646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best recall within capacity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12538" y="370332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budget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19237" y="2194560"/>
            <a:ext cx="3515258" cy="246888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9237" y="2194560"/>
            <a:ext cx="3515258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9237" y="21945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0.70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56397" y="28346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✗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8905037" y="2834640"/>
            <a:ext cx="2646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small queue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93557" y="370332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too many at-risk students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937760"/>
            <a:ext cx="11277295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Pick t = 0.55 on validation → check on test → dislike the result → move the threshold.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set has quietly become part of development. Numbers still correct — claim no longer external.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Cross-validation — when data is limited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the validation role across k folds. Average. Then choose.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194560"/>
            <a:ext cx="2036003" cy="502920"/>
          </a:xfrm>
          <a:prstGeom prst="rect">
            <a:avLst/>
          </a:prstGeom>
          <a:solidFill>
            <a:srgbClr val="E6510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9456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86979" y="219456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86979" y="219456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59558" y="219456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59558" y="219456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137" y="219456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137" y="219456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04716" y="219456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04716" y="219456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788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278892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78892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86979" y="2788920"/>
            <a:ext cx="2036003" cy="502920"/>
          </a:xfrm>
          <a:prstGeom prst="rect">
            <a:avLst/>
          </a:prstGeom>
          <a:solidFill>
            <a:srgbClr val="E6510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86979" y="278892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59558" y="278892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9558" y="278892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32137" y="278892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137" y="278892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204716" y="278892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04716" y="278892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33832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" y="338328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338328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986979" y="338328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86979" y="338328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59558" y="3383280"/>
            <a:ext cx="2036003" cy="502920"/>
          </a:xfrm>
          <a:prstGeom prst="rect">
            <a:avLst/>
          </a:prstGeom>
          <a:solidFill>
            <a:srgbClr val="E6510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59558" y="338328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32137" y="338328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137" y="338328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204716" y="338328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04716" y="338328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" y="3977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14400" y="397764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397764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986979" y="397764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86979" y="397764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59558" y="397764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59558" y="397764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132137" y="3977640"/>
            <a:ext cx="2036003" cy="502920"/>
          </a:xfrm>
          <a:prstGeom prst="rect">
            <a:avLst/>
          </a:prstGeom>
          <a:solidFill>
            <a:srgbClr val="E6510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137" y="397764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204716" y="397764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04716" y="397764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74320" y="4572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14400" y="457200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" y="457200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986979" y="457200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86979" y="457200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059558" y="457200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59558" y="457200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132137" y="4572000"/>
            <a:ext cx="2036003" cy="502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137" y="457200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204716" y="4572000"/>
            <a:ext cx="2036003" cy="502920"/>
          </a:xfrm>
          <a:prstGeom prst="rect">
            <a:avLst/>
          </a:prstGeom>
          <a:solidFill>
            <a:srgbClr val="E6510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204716" y="4572000"/>
            <a:ext cx="20360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74320" y="5166360"/>
            <a:ext cx="11643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→ average the k validation scores; pick best setting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457200" y="5577840"/>
            <a:ext cx="11277295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7200" y="5577840"/>
            <a:ext cx="41148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800" y="5623560"/>
            <a:ext cx="11048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a final test set exists, it stays OUTSIDE the cross-validation loop.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685800" y="6035040"/>
            <a:ext cx="11048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is a stronger way to USE development data — not a replacement for external evidence.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Five common forms of leakage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boundary is clear, the leaks are easy to name.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219456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BEFORE SPLIT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2194560"/>
            <a:ext cx="6430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or standardizing the whole dataset before train/test, so test statistics influence the transform.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53512"/>
            <a:ext cx="11277295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53512"/>
            <a:ext cx="41148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5351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295351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 BEFORE SPLIT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2953512"/>
            <a:ext cx="6430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features using all examples — test labels quietly help the feature filter.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12464"/>
            <a:ext cx="41148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71246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3712464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/ NEAR-DUPLICATE CASES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3712464"/>
            <a:ext cx="6430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student in train and test under different IDs; same image with a different crop.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471416"/>
            <a:ext cx="11277295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471416"/>
            <a:ext cx="41148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7141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88720" y="4471416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INFORMATION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4471416"/>
            <a:ext cx="6430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created AFTER the prediction moment — a support flag, a later grade, a post-hoc moderator outcome.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230368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230368"/>
            <a:ext cx="41148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23036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188720" y="523036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TUNING LOOP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5230368"/>
            <a:ext cx="6430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nudging settings until the test result looks good — the score is no longer external evidence.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leaked benchmark score isn't a weaker scientific claim. Often it is no scientific claim at all.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baseline ladder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sophisticated model isn’t clearly above a serious baseline, the experiment isn't ready for a strong claim.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868680"/>
          </a:xfrm>
          <a:prstGeom prst="rect">
            <a:avLst/>
          </a:prstGeom>
          <a:solidFill>
            <a:srgbClr val="ECEFF1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86868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945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21945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Majority class / constant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194560"/>
            <a:ext cx="5333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headline beating trivial imbalance?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11277295" cy="868680"/>
          </a:xfrm>
          <a:prstGeom prst="rect">
            <a:avLst/>
          </a:prstGeom>
          <a:solidFill>
            <a:srgbClr val="BDD4F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08960"/>
            <a:ext cx="54864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08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31089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Simple weighted linear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3108960"/>
            <a:ext cx="5333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already a strong low-complexity solution?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77295" cy="868680"/>
          </a:xfrm>
          <a:prstGeom prst="rect">
            <a:avLst/>
          </a:prstGeom>
          <a:solidFill>
            <a:srgbClr val="FEF2D6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023360"/>
            <a:ext cx="54864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0233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9456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Small tree / word-count / nearest-neighbor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4023360"/>
            <a:ext cx="5333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simple non-linear structure already explain most of the gain?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937760"/>
            <a:ext cx="11277295" cy="868680"/>
          </a:xfrm>
          <a:prstGeom prst="rect">
            <a:avLst/>
          </a:prstGeom>
          <a:solidFill>
            <a:srgbClr val="D2EED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937760"/>
            <a:ext cx="54864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9377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94560" y="49377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Complex model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4937760"/>
            <a:ext cx="5333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now — is complexity buying anything real?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score of 85% is excellent or trivial depending on the baseline. Baselines make the claim legible.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Two sanity checks that should be automatic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to run. They catch broken pipelines before claims are made.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931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SHUFFLED-LABEL CHECK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permute training labels. Retrain from scratch. Evaluate on the unchanged validation set.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709160"/>
            <a:ext cx="109728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FAILS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5074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performance does NOT collapse to the metric’s null baseline → the pipeline is broken. It’s learning from data artifacts (leaky features, duplicates, preprocessing that encodes the target).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194560"/>
            <a:ext cx="5486400" cy="3931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194560"/>
            <a:ext cx="548640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STABILITY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2971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246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Re-shuffle the train/validation split a few times. Re-fit. Compare validation scores.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4709160"/>
            <a:ext cx="109728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FAILS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5074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metric swings wildly under small split changes — the setup is too fragile for a strong conclusion. The number you report is partly luck.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Bonferroni cost of peeking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Type-I error at α = 0.05 inflates fast when you check k times.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15258" cy="3108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35152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5%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error rate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57629" y="489204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9834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honest check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38218" y="2194560"/>
            <a:ext cx="3515258" cy="3108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38218" y="237744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38218" y="2880360"/>
            <a:ext cx="35152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40%</a:t>
            </a:r>
            <a:endParaRPr lang="en-US" sz="8000" dirty="0"/>
          </a:p>
        </p:txBody>
      </p:sp>
      <p:sp>
        <p:nvSpPr>
          <p:cNvPr id="17" name="Text 15"/>
          <p:cNvSpPr/>
          <p:nvPr/>
        </p:nvSpPr>
        <p:spPr>
          <a:xfrm>
            <a:off x="4338218" y="45262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error rate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38648" y="489204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38218" y="49834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architectures tried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19237" y="2194560"/>
            <a:ext cx="3515258" cy="3108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9237" y="237744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100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19237" y="2880360"/>
            <a:ext cx="35152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≈ 99%</a:t>
            </a:r>
            <a:endParaRPr lang="en-US" sz="8000" dirty="0"/>
          </a:p>
        </p:txBody>
      </p:sp>
      <p:sp>
        <p:nvSpPr>
          <p:cNvPr id="23" name="Text 21"/>
          <p:cNvSpPr/>
          <p:nvPr/>
        </p:nvSpPr>
        <p:spPr>
          <a:xfrm>
            <a:off x="8219237" y="45262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error rate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19666" y="4892040"/>
            <a:ext cx="914400" cy="0"/>
          </a:xfrm>
          <a:prstGeom prst="line">
            <a:avLst/>
          </a:prstGeom>
          <a:noFill/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9237" y="49834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search at scale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532120"/>
            <a:ext cx="11277295" cy="9601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532120"/>
            <a:ext cx="41148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577840"/>
            <a:ext cx="11048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RECOURSE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5943600"/>
            <a:ext cx="11048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Bonferroni-corrected threshold (α' = α/k)  ·  a fresh held-out set  ·  pre-registered model selection rule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When good numbers still hide weak claims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common metric traps.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38912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looks reassuring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can still hide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High accuracy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predictions are correct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Useless on the rare class that actually matters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Strong ROC / ranking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Cases ordered well in aggregate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queue size at the operational 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D1B2A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Lower training loss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prediction quality improved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in the action range can still be terrible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5669280"/>
            <a:ext cx="41148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5669280"/>
            <a:ext cx="11048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CLAIM FAILURE GALLERY — whenever a number looks persuasive, name one failure mode it cannot rule out.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artifact — Minimal Evaluation Plan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claim writeable in one page.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55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be written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Decision context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real action / policy is supported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Primary metric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quantity expressing success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Supporting metrics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Imbalance, calibration, slice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Threshold / ranking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scores become action under capacity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Calibration check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confidence will be inspected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Split protocol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· validation · test roles &amp; ordering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Leakage controls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stay inside the training boundary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Baseline ladder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simpler baselines must be beaten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Claim statement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exact sentence the result is meant to justify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you can’t write this plan — the evaluation claim is still underdesigned.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Filled-in plan — student support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early-warning evaluation in one page.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7729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961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Defensible entry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Decision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students at risk of missing one of the first two deadlines for week-4 advising outreach.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Primary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at the top 15% of the ranked list (advising team capacity).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Supporting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at the same budget · calibration of risk scores in the flagged region.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Policy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all students by predicted week-4 risk; contact the top 15% at week 4.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Calibration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predicted risk to observed proxy-event frequency per decile on validation.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Split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Train: semesters 1–4 · validate: sem. 5 · test: sem. 6.  No student in more than one split.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Leakage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use only info available at week 4 — no later grades, no post-outreach flags.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Baselines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(1) majority class · (2) logistic regression on GPA alone.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Claim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“All-features model identifies at-risk students with higher recall than GPA-only screening when advisors review the top 15%, on a held-out semester.”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This is the Chapter 2b counterpart of Ch.1’s framing memo and Ch.2’s metric-and-action worksheet.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Common evaluation mistakes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looks like a clean experiment from inside the lab.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945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▲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286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Optimize one quantity, report another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6517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training loss is treated as if it settled the deployment question.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11277295" cy="9144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72968"/>
            <a:ext cx="41148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72968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▲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3264408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Let the test set become a teacher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630168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test results influence model choice, the final number stops being external evidence.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151376"/>
            <a:ext cx="11277295" cy="9144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151376"/>
            <a:ext cx="41148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51376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▲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4242816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Hide tradeoffs behind one clean metric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4608576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in the action range, rare-case performance, or operational thresholding are quietly excluded.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129784"/>
            <a:ext cx="11277295" cy="9144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129784"/>
            <a:ext cx="41148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29784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▲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34440" y="522122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Weak baselines and uninspected leakage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4440" y="5586984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Apparently strong results become much easier to achieve than the report suggests.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Evaluation is already part of the model — every protocol choice narrows what the model is allowed to claim.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2B  ·  GENERALIZATION, LEAKAGE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Six safeguards on every claim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Reflexively before you press “publish.”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55768" cy="13258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14600"/>
            <a:ext cx="685800" cy="68580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14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63040" y="233172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Split first.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2880360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learn preprocessing on train only.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78728" y="2194560"/>
            <a:ext cx="5455768" cy="13258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1608" y="2514600"/>
            <a:ext cx="685800" cy="68580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1608" y="2514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284568" y="233172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Validation chooses settings.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284568" y="2880360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Threshold, calibration, regularization — all on val.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5455768" cy="13258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931920"/>
            <a:ext cx="685800" cy="68580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463040" y="374904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Test once.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63040" y="4297680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choices are frozen.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78728" y="3611880"/>
            <a:ext cx="5455768" cy="13258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61608" y="3931920"/>
            <a:ext cx="685800" cy="68580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1608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284568" y="374904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Hunt for leakage.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84568" y="4297680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broken boundary, not just bad code.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029200"/>
            <a:ext cx="5455768" cy="13258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349240"/>
            <a:ext cx="685800" cy="68580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349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463040" y="516636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Compare to baselines.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463040" y="5715000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don’t beat a serious rung, the claim is weak.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78728" y="5029200"/>
            <a:ext cx="5455768" cy="13258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61608" y="5349240"/>
            <a:ext cx="685800" cy="68580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1608" y="5349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284568" y="516636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Run sanity checks.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284568" y="5715000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Shuffled labels and split stability — automatic.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Strong numbers mean nothing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until the workflow protects them.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is the real target — not training fit.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roles stay distinct and ordered.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is procedural — split first, then learn from train only.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a serious baseline before claiming added value.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sanity checks automatically — they cost almost nothing.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661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Linear models as the first credible baseline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 — Dataset design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10 — Experiments and claim audits (this discipline at larger scale)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507492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532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one-page evaluation plan for your running case — and run the shuffled-label check against your training pipeline.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2b: Generalization, Leakage, and Evaluation Discipline</dc:title>
  <dc:subject>PptxGenJS Presentation</dc:subject>
  <dc:creator>Sam Urmian</dc:creator>
  <cp:lastModifiedBy>Sam Urmian</cp:lastModifiedBy>
  <cp:revision>1</cp:revision>
  <dcterms:created xsi:type="dcterms:W3CDTF">2026-05-16T20:03:15Z</dcterms:created>
  <dcterms:modified xsi:type="dcterms:W3CDTF">2026-05-16T20:03:15Z</dcterms:modified>
</cp:coreProperties>
</file>