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5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Optimization and Neural Networks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the right features have to be learned.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engineered structure stops being enough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challenge is discovering the SPACE in which the boundary should be drawn.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Neural networks earn their place when the useful internal features are UNKNOWN.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5486400" cy="24688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661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66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Tabular data with clear signals.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743200" y="484632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834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and linear models still win — especially on small 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5486400" cy="24688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56616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566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FEATURES NEEDED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Pixels · waveforms · tokens.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595360" y="484632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834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signals are buried — and a hand-crafted feature set can't keep up.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six moves from one step to one report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sharpens one piece of the training loop.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Network = learned pipeline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learned features →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Loss as teaching signal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judge; losses teach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Gradient descent + SGD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local corrections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Backprop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assignment via chain rule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Regularization &amp; capacity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toward stable patterns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8277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8277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1157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Training report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341157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deliverable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neural network IS a learned feature pipeline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→ learned features → output.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8008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008" y="2560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0888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pixels · words · numbers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47008" y="3063240"/>
            <a:ext cx="4114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04208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4208" y="2560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7088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hidden layers — where representation is shaped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33208" y="3063240"/>
            <a:ext cx="4114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90408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0408" y="2560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73288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score · probability · class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1277295" cy="18288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06240"/>
            <a:ext cx="4114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9768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617720"/>
            <a:ext cx="11048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neural network is a parameterized function built by composing layers — each layer an affine map followed by a nonlinear activation.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11048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unit:    z  =  w⊤ x  +  b           a  =  φ(z)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Hidden layers are LEARNED FEATURES — not decoration.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Without φ — depth collapses to one affine map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Nonlinearities are what let the representation bend.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ACTIVATION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=  W₁ x  +  b₁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=  W₂ h  +  b₂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45720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69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⟹   y  =  ( W₂ W₁ ) x  +  ( W₂ b₁ + b₂ 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9834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Stacked affines = one affine.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ACTIVATION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606040"/>
            <a:ext cx="5486400" cy="3429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6974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=  φ( W₁ x  +  b₁ 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=  W₂ h  +  b₂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766560" y="4160520"/>
            <a:ext cx="45720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2976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Nonlinearity at every layer is what makes depth meaningful.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Without φ, you may as well train a single linear model.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activations to know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· tanh · ReLU.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σ(z) = 1 / (1 + e⁻ᶻ)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788109" y="388620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23360"/>
            <a:ext cx="3119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 (0, 1)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Saturates — vanishing gradients.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292608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tanh(z)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38648" y="388620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4023360"/>
            <a:ext cx="3119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 (−1, 1) · zero-centered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Saturates — vanishing gradients.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200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41157" y="292608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max(0, z)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89186" y="388620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4023360"/>
            <a:ext cx="3119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positive saturation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Dead-unit risk in the negative half.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77295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77840"/>
            <a:ext cx="41148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577840"/>
            <a:ext cx="11048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Saturating activations → vanishing gradients. ReLU can die in the negative region — Leaky ReLU / GELU fix that.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Running case — forward pass end to end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this message?  x = (0.8, 0.6).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8008" y="24688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008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3728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(0.8, 0.6)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7976" y="3200400"/>
            <a:ext cx="23774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04008" y="24688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4008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49728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ReLU(1.5·0.8 + 0.5·0.6 − 1.0)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0.50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33976" y="3200400"/>
            <a:ext cx="23774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90008" y="24688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0008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35728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ReLU(0.5·0.8 + 1.5·0.6 − 1.0)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0.30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19976" y="3200400"/>
            <a:ext cx="23774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76008" y="24688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6008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1728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1.2·0.5 + 0.8·0.3 − 0.4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0.44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05976" y="3200400"/>
            <a:ext cx="23774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62008" y="24688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008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07728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σ(0.44)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0.61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AT τ = 0.5  →  PREDICTED  ESCALATE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computation pattern at every scale — only the matrix sizes and activation choices change.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035040"/>
            <a:ext cx="4114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603504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reuse this exact example in the BACKPROP slide.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Loss is the teaching signal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judge.  Losses teach.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loss defines WHICH mistakes create the strongest correction pressure.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5486400" cy="30175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0040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0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 (regression)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(1/n) Σ (ŷᵢ − yᵢ)²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Squared error — punishes big misses hard.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200400"/>
            <a:ext cx="5486400" cy="30175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20040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200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 (binary class)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−(1/n) Σ [ yᵢ log p̂ᵢ  +  (1−yᵢ) log(1−p̂ᵢ) 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5303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Cross-entropy — penalizes confidently-wrong probabilities.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Sigmoid + cross-entropy — the clean gradient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gradient simplifies to p̂ − 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 / ds  =  p̂  −  y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3576218" cy="2011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931920"/>
            <a:ext cx="3576218" cy="731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6052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5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1, p̂ = 0.20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3393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STRONG push 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07738" y="3931920"/>
            <a:ext cx="3576218" cy="2011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7738" y="3931920"/>
            <a:ext cx="3576218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9178" y="416052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5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1, p̂ = 0.95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99178" y="4709160"/>
            <a:ext cx="3393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399178" y="539496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gentle push up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58277" y="3931920"/>
            <a:ext cx="3576218" cy="2011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3931920"/>
            <a:ext cx="3576218" cy="731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9717" y="416052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5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0, p̂ = 0.90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49717" y="4709160"/>
            <a:ext cx="3393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+0.90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249717" y="539496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strong push DOWN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gradient size IS the surprise. Confident-and-wrong gets the loudest correction.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not just train on accuracy?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right answer — very different loss.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94560"/>
          <a:ext cx="1036289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  <a:gridCol w="21031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p for the TRUE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77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77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572000"/>
            <a:ext cx="11277295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57200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Accuracy only changes when a prediction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CROSSES THE THRESHOLD.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coarse to optimize against.  Cross-entropy moves smoothly with every probability shift.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Gradient descent — repeated local correction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local slope. Each step is local — not global.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w_new  =  w  −  η  ·  dL / dw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ONE STEP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4023360"/>
            <a:ext cx="9448495" cy="15087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4114800"/>
            <a:ext cx="90827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(w·x − y)²       x = 2     y = 6     w = 1     η = 0.1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dL/dw = 2·(w·x − y)·x = 2·(−4)·2 = −16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w_new = 1 − 0.1·(−16) = 2.6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5669280"/>
            <a:ext cx="41148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669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DEBUGGING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5669280"/>
            <a:ext cx="8991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Print loss before and after the first step. If it didn't strictly DECREASE — η is too large, or the gradient is wrong.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training loop — five steps you must recite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trick modifies this loop — never replaces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2288" y="265176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0968" y="23774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096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3728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3728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predictions from inputs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93696" y="329184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58288" y="265176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6968" y="23774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696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49728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49728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wrong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79696" y="329184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44288" y="265176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12968" y="23774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296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35728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35728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dL / dθ via the chain rule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65696" y="329184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30288" y="265176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8968" y="23774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9896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21728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PARAMS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21728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− η · dL / dθ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51696" y="329184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16288" y="265176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84968" y="23774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8496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07728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07728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generalization improve too?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667848" y="3977640"/>
            <a:ext cx="0" cy="411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23848" y="4389120"/>
            <a:ext cx="91440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23848" y="4389120"/>
            <a:ext cx="0" cy="-411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587088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074920"/>
            <a:ext cx="11277295" cy="13716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5074920"/>
            <a:ext cx="41148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074920"/>
            <a:ext cx="11048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Adam · BatchNorm · dropout · learning-rate schedules — every one of them is a modification of these five steps. Not a replacement.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Learning rate as step size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· good · too large.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9260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painfully slow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788109" y="356616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32104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moves; epochs wasted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29260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0618" y="28803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steady descent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38648" y="356616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0618" y="3703320"/>
            <a:ext cx="32104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drops smoothly; converges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29260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41157" y="28803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bounces / diverges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489186" y="356616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1157" y="3703320"/>
            <a:ext cx="32104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overshoot minima; loss can rise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303520"/>
            <a:ext cx="41148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34924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669280"/>
            <a:ext cx="11048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Step decay  ·  cosine annealing  ·  warmup. The best rate early in training is often too large near the minimum — schedule it down.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Adaptive optimizers — momentum, Adam, AdamW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beyond plain SGD.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1945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Accumulate the direction of travel.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4419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Damps zig-zag through narrow valleys.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1277295" cy="1005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9184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3291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Track gradient magnitude per parameter.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3291840"/>
            <a:ext cx="4419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Per-coordinate adaptive step size.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11277295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38912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89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43891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Adam with DECOUPLED weight decay.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4389120"/>
            <a:ext cx="4419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separated from the optimizer step.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11277295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440680"/>
            <a:ext cx="41148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48640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FIX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5806440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 noise. Data leakage. A wrong output layer. A broken architecture. The optimizer is a step-size strategy — not a debugger.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Optimization vs generalization failure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failure shapes — different fixes.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554480"/>
                <a:gridCol w="52120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LOOK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OPTIMIZATION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· init · output layer · label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GENERALIZATION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· regularization · data · augmentation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BOTH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OPTIMIZATION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303520"/>
            <a:ext cx="11277295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303520"/>
            <a:ext cx="41148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34924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TINY-BATCH OVERFIT TEST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566928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Pick 16 examples. The model should drive their loss to near zero. If it can't — optimization is broken, not generalization. The fastest diagnostic in your toolbox.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Initialization — break symmetry, control scale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bad starts and a summary rule.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01168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Every unit identical.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They learn the SAME thing.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201168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90618" y="2788920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Signals shrink layer-by-layer.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Gradients vanish.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201168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41157" y="2788920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Activations / gradients EXPLODE.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NaN very fast.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11277295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34840"/>
            <a:ext cx="41148" cy="2011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8056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89204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init for ReLU      Var(w)  =  2 / nᵢₙ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Xavier init for sigmoid / tanh      Var(w)  =  1 / nᵢₙ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" y="585216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training fails — the bug may live in lr, init, or batch size. Not the model.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Mini-batches &amp; BatchNorm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optimization less brittle.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examples per step — noisy but cheap.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controls peak memory.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 step cost is O(B · p).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â  =  (a − μ_B) / √(σ²_B + ε)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=  γ â + β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Learned scale γ and shift β per channel.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11277295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577840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62356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SMALL-BATCH WARNING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94360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BN with batch size 4–8 jitters more than it stabilizes. Switch to LayerNorm / GroupNorm when batch is small (or non-IID).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Backprop = credit assignment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rule, organized output-to-input.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Backprop computes HOW the loss changes with each parameter — via the chain rule, traversed from output back to input.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8048" y="3474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048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21128" y="3703320"/>
            <a:ext cx="36576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86888" y="4160520"/>
            <a:ext cx="-36576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32608" y="3474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608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15688" y="3703320"/>
            <a:ext cx="36576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81448" y="4160520"/>
            <a:ext cx="-36576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27168" y="3474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7168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10248" y="3703320"/>
            <a:ext cx="36576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76008" y="4160520"/>
            <a:ext cx="-36576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21728" y="3474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1728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204808" y="3703320"/>
            <a:ext cx="36576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70568" y="4160520"/>
            <a:ext cx="-36576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16288" y="3474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16288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8048" y="3017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 →  values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8048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 ←  gradients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029200"/>
            <a:ext cx="11277295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029200"/>
            <a:ext cx="41148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7492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SPECIAL ALGORITHM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5394960"/>
            <a:ext cx="11048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Backprop is the CHAIN RULE — organized to fit memory and reuse intermediate results.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big-O cost as one forward pass. That is the engineering win.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Backprop — through the running case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network as Slide 7 — gradients flow back from 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68580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 p̂ = 0.61,  y =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 / ds       =  p̂ − y  =  −0.39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 / dv₁     =  dL/ds  ·  h₁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 / dh₁    =  dL/ds  ·  v₁
</a:t>
            </a:r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 GATE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 / dz₁    =  dL/dh₁  ·  𝟙[z₁ &gt; 0]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 / dw₁₁  =  dL/dz₁  ·  x₁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2103120"/>
            <a:ext cx="4236415" cy="3931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2103120"/>
            <a:ext cx="41148" cy="3931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2194560"/>
            <a:ext cx="4007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ReLU IS OFF  (z &lt; 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2651760"/>
            <a:ext cx="4007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gate is CLOSED.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26680" y="3383280"/>
            <a:ext cx="13716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3520440"/>
            <a:ext cx="40078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/ dz  = 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flows backward through that unit.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happens for an entire mini-batch — the unit can DIE.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 and GELU help.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Backprop is just the chain rule — applied node-by-node, layer-by-layer.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Regularization toolbox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the model toward stable patterns — AFTER optimization works.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82164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2682164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2682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2407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23164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Penalize large weights.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22244" y="2194560"/>
            <a:ext cx="2682164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2244" y="2194560"/>
            <a:ext cx="2682164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2244" y="2423160"/>
            <a:ext cx="2682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459404" y="3154680"/>
            <a:ext cx="2407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05124" y="3749040"/>
            <a:ext cx="23164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Randomly zero activations during training.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87288" y="2194560"/>
            <a:ext cx="2682164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7288" y="2194560"/>
            <a:ext cx="2682164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7288" y="2423160"/>
            <a:ext cx="2682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24448" y="3154680"/>
            <a:ext cx="2407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0168" y="3749040"/>
            <a:ext cx="23164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Label-preserving input variety.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52331" y="2194560"/>
            <a:ext cx="2682164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331" y="2194560"/>
            <a:ext cx="2682164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331" y="2423160"/>
            <a:ext cx="2682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9189491" y="3154680"/>
            <a:ext cx="2407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211" y="3749040"/>
            <a:ext cx="23164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Halt when validation loss plateaus.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577840"/>
            <a:ext cx="11277295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577840"/>
            <a:ext cx="41148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577840"/>
            <a:ext cx="11048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Regularization is for STABLE generalization — it does NOT rescue a broken optimization setup.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Capacity vs data regime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≠ better.  Match the model size to the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601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+ CLEAN LABELS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5882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more capacity may help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77295" cy="9601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46120"/>
            <a:ext cx="54864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461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 + CLEAN LABELS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3246120"/>
            <a:ext cx="5882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regularize · early-stop · shrink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11277295" cy="9601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97680"/>
            <a:ext cx="54864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976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LABELS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4297680"/>
            <a:ext cx="5882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fix labels first — big models memorize noise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5394960"/>
            <a:ext cx="11277295" cy="105156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394960"/>
            <a:ext cx="41148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44068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760720"/>
            <a:ext cx="11048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800-record medical task: a 6-layer Transformer overfit hard. Dropping to a 2-layer net + dropout closed the gap — and ran 10× faster.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payoff — the network learns the COORDINATES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shape the geometry the loss lives 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2194560"/>
            <a:ext cx="8625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pixels  →  edges &amp; textures  →  parts &amp; objects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3200400"/>
            <a:ext cx="8625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tokens  →  phrase cues  →  contextual meaning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27729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06240"/>
            <a:ext cx="54864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06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08960" y="4206240"/>
            <a:ext cx="8625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waveform  →  frequency cues  →  rhythm &amp; context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77295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4924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Optimization is teaching the model which internal coordinates make the task easier.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·  OPTIMIZATION AND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Minimum Credible Training Report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serious neural-network claim.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Data split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val / test sizes — and how chosen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Preprocessing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 · tokenization · augmentation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Architecture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· depth · hidden sizes · output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Loss &amp; metric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objective + evaluation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rule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or ranking turning scores into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Optimizer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/ Adam / AdamW — with justification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Learning rate &amp; batch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 main optimization knobs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Stopping rule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epochs / early stopping / patience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Baseline &amp; seeds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Simpler comparator + number of repeated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Framing → Metric &amp; Action → Evaluation Plan → Baseline Sheet → Structural Diagnosis → Training Report.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Hidden layers are LEARNED FEATURES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not decoration.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Nonlinearity is what makes depth meaningful.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teaches; gradients are local corrections.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OPTIMIZATION vs GENERALIZATION failure before redesigning.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comes AFTER optimization works.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result is only credible with a training report + baseline.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5b — Probabilistic models &amp; honest uncertainty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 — Representation learning &amp; foundation models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train your first 2-layer net end-to-end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Minimum Credible Training Report for a binary classifier on your running case — and name the baseline it must beat.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5: Optimization and Neural Networks</dc:title>
  <dc:subject>PptxGenJS Presentation</dc:subject>
  <dc:creator>Sam Urmian</dc:creator>
  <cp:lastModifiedBy>Sam Urmian</cp:lastModifiedBy>
  <cp:revision>1</cp:revision>
  <dcterms:created xsi:type="dcterms:W3CDTF">2026-05-16T23:11:13Z</dcterms:created>
  <dcterms:modified xsi:type="dcterms:W3CDTF">2026-05-16T23:11:13Z</dcterms:modified>
</cp:coreProperties>
</file>